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ags/tag2.xml" ContentType="application/vnd.openxmlformats-officedocument.presentationml.tags+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3.xml" ContentType="application/vnd.openxmlformats-officedocument.presentationml.tags+xml"/>
  <Override PartName="/ppt/notesSlides/notesSlide1.xml" ContentType="application/vnd.openxmlformats-officedocument.presentationml.notesSlide+xml"/>
  <Override PartName="/ppt/tags/tag4.xml" ContentType="application/vnd.openxmlformats-officedocument.presentationml.tags+xml"/>
  <Override PartName="/ppt/notesSlides/notesSlide2.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4" r:id="rId2"/>
  </p:sldMasterIdLst>
  <p:notesMasterIdLst>
    <p:notesMasterId r:id="rId18"/>
  </p:notesMasterIdLst>
  <p:sldIdLst>
    <p:sldId id="256" r:id="rId3"/>
    <p:sldId id="571" r:id="rId4"/>
    <p:sldId id="572" r:id="rId5"/>
    <p:sldId id="573" r:id="rId6"/>
    <p:sldId id="574" r:id="rId7"/>
    <p:sldId id="575" r:id="rId8"/>
    <p:sldId id="576" r:id="rId9"/>
    <p:sldId id="580" r:id="rId10"/>
    <p:sldId id="582" r:id="rId11"/>
    <p:sldId id="583" r:id="rId12"/>
    <p:sldId id="584" r:id="rId13"/>
    <p:sldId id="577" r:id="rId14"/>
    <p:sldId id="579" r:id="rId15"/>
    <p:sldId id="578" r:id="rId16"/>
    <p:sldId id="536" r:id="rId17"/>
  </p:sldIdLst>
  <p:sldSz cx="12192000" cy="6858000"/>
  <p:notesSz cx="6858000" cy="9144000"/>
  <p:custDataLst>
    <p:tags r:id="rId19"/>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672" userDrawn="1">
          <p15:clr>
            <a:srgbClr val="A4A3A4"/>
          </p15:clr>
        </p15:guide>
        <p15:guide id="2" pos="312" userDrawn="1">
          <p15:clr>
            <a:srgbClr val="A4A3A4"/>
          </p15:clr>
        </p15:guide>
        <p15:guide id="3" orient="horz" pos="912"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4B9636B-3D94-EB3D-7CF5-3935240F8C9F}" name="Ramar Bose" initials="RB" userId="S::ramar@edunetfoundation.org::ae727035-80f4-46a2-9b41-59f778a1b49a" providerId="AD"/>
  <p188:author id="{D0A8B7BB-36D1-777B-64C8-9A30C894A727}" name="Rashmi Mishra" initials="RM" userId="S::rmishra@edunetfoundation.org::6469e6c3-66fa-4f4f-9c10-a71ac4161bf2"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4A751"/>
    <a:srgbClr val="263570"/>
    <a:srgbClr val="4A9DE2"/>
    <a:srgbClr val="88BFEC"/>
    <a:srgbClr val="F9B1B1"/>
    <a:srgbClr val="B2DE82"/>
    <a:srgbClr val="F57373"/>
    <a:srgbClr val="F03434"/>
    <a:srgbClr val="BC7D00"/>
    <a:srgbClr val="FFBC3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73818" autoAdjust="0"/>
  </p:normalViewPr>
  <p:slideViewPr>
    <p:cSldViewPr snapToGrid="0" showGuides="1">
      <p:cViewPr>
        <p:scale>
          <a:sx n="73" d="100"/>
          <a:sy n="73" d="100"/>
        </p:scale>
        <p:origin x="1042" y="269"/>
      </p:cViewPr>
      <p:guideLst>
        <p:guide orient="horz" pos="672"/>
        <p:guide pos="312"/>
        <p:guide orient="horz" pos="912"/>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notesMaster" Target="notesMasters/notesMaster1.xml"/><Relationship Id="rId3" Type="http://schemas.openxmlformats.org/officeDocument/2006/relationships/slide" Target="slides/slide1.xml"/><Relationship Id="rId21" Type="http://schemas.openxmlformats.org/officeDocument/2006/relationships/viewProps" Target="view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microsoft.com/office/2018/10/relationships/authors" Target="author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tags" Target="tags/tag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1699836-02B7-459A-AF64-A000817D576C}" type="datetimeFigureOut">
              <a:rPr lang="en-IN" smtClean="0"/>
              <a:t>14-03-2026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3065E4E-ABE4-4C79-8716-B93932D5FBD3}" type="slidenum">
              <a:rPr lang="en-IN" smtClean="0"/>
              <a:t>‹#›</a:t>
            </a:fld>
            <a:endParaRPr lang="en-IN"/>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3065E4E-ABE4-4C79-8716-B93932D5FBD3}" type="slidenum">
              <a:rPr lang="en-IN" smtClean="0"/>
              <a:t>1</a:t>
            </a:fld>
            <a:endParaRPr lang="en-I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a:cs typeface="Calibri" panose="020F0502020204030204"/>
            </a:endParaRPr>
          </a:p>
        </p:txBody>
      </p:sp>
      <p:sp>
        <p:nvSpPr>
          <p:cNvPr id="4" name="Slide Number Placeholder 3"/>
          <p:cNvSpPr>
            <a:spLocks noGrp="1"/>
          </p:cNvSpPr>
          <p:nvPr>
            <p:ph type="sldNum" sz="quarter" idx="5"/>
          </p:nvPr>
        </p:nvSpPr>
        <p:spPr/>
        <p:txBody>
          <a:bodyPr/>
          <a:lstStyle/>
          <a:p>
            <a:fld id="{F3065E4E-ABE4-4C79-8716-B93932D5FBD3}" type="slidenum">
              <a:rPr lang="en-IN" smtClean="0"/>
              <a:t>15</a:t>
            </a:fld>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userDrawn="1">
  <p:cSld name="1_Title and body">
    <p:spTree>
      <p:nvGrpSpPr>
        <p:cNvPr id="1" name="Shape 13"/>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CB3FA99E-0146-4BD9-9E30-4EB71F3A4207}" type="datetimeFigureOut">
              <a:rPr lang="en-IN" smtClean="0"/>
              <a:t>14-03-2026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4381918-31C6-44C6-A382-2FA557A3F6B9}" type="slidenum">
              <a:rPr lang="en-IN" smtClean="0"/>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3/14/2026</a:t>
            </a:fld>
            <a:endParaRPr lang="en-US"/>
          </a:p>
        </p:txBody>
      </p:sp>
      <p:sp>
        <p:nvSpPr>
          <p:cNvPr id="3" name="Footer Placeholder 2"/>
          <p:cNvSpPr>
            <a:spLocks noGrp="1"/>
          </p:cNvSpPr>
          <p:nvPr>
            <p:ph type="ftr" sz="quarter" idx="11"/>
          </p:nvPr>
        </p:nvSpPr>
        <p:spPr>
          <a:xfrm>
            <a:off x="581192" y="6423914"/>
            <a:ext cx="6917210" cy="365125"/>
          </a:xfrm>
          <a:prstGeom prst="rect">
            <a:avLst/>
          </a:prstGeom>
        </p:spPr>
        <p:txBody>
          <a:bodyPr/>
          <a:lstStyle/>
          <a:p>
            <a:endParaRPr lang="en-US"/>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GB" smtClean="0"/>
              <a:t>14/03/2026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body" userDrawn="1">
  <p:cSld name="1_Title and body">
    <p:spTree>
      <p:nvGrpSpPr>
        <p:cNvPr id="1" name="Shape 13"/>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ags" Target="../tags/tag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slideLayout" Target="../slideLayouts/slideLayout7.xml"/><Relationship Id="rId1" Type="http://schemas.openxmlformats.org/officeDocument/2006/relationships/slideLayout" Target="../slideLayouts/slideLayout6.xml"/><Relationship Id="rId5" Type="http://schemas.openxmlformats.org/officeDocument/2006/relationships/theme" Target="../theme/theme2.xml"/><Relationship Id="rId4"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Rectangle 5"/>
          <p:cNvSpPr/>
          <p:nvPr userDrawn="1"/>
        </p:nvSpPr>
        <p:spPr>
          <a:xfrm>
            <a:off x="0" y="0"/>
            <a:ext cx="10374086" cy="660400"/>
          </a:xfrm>
          <a:prstGeom prst="rect">
            <a:avLst/>
          </a:prstGeom>
          <a:solidFill>
            <a:srgbClr val="26357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Rectangle 21"/>
          <p:cNvSpPr/>
          <p:nvPr userDrawn="1"/>
        </p:nvSpPr>
        <p:spPr>
          <a:xfrm>
            <a:off x="0" y="6692900"/>
            <a:ext cx="12192000" cy="165100"/>
          </a:xfrm>
          <a:prstGeom prst="rect">
            <a:avLst/>
          </a:prstGeom>
          <a:solidFill>
            <a:srgbClr val="34A7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028" name="Picture 4" descr="A black background with grey text&#10;&#10;AI-generated content may be incorrect."/>
          <p:cNvPicPr>
            <a:picLocks noChangeAspect="1" noChangeArrowheads="1"/>
          </p:cNvPicPr>
          <p:nvPr userDrawn="1"/>
        </p:nvPicPr>
        <p:blipFill>
          <a:blip r:embed="rId8" cstate="print">
            <a:extLst>
              <a:ext uri="{28A0092B-C50C-407E-A947-70E740481C1C}">
                <a14:useLocalDpi xmlns:a14="http://schemas.microsoft.com/office/drawing/2010/main" val="0"/>
              </a:ext>
            </a:extLst>
          </a:blip>
          <a:srcRect/>
          <a:stretch>
            <a:fillRect/>
          </a:stretch>
        </p:blipFill>
        <p:spPr bwMode="auto">
          <a:xfrm>
            <a:off x="10465905" y="91005"/>
            <a:ext cx="1466678" cy="478389"/>
          </a:xfrm>
          <a:prstGeom prst="rect">
            <a:avLst/>
          </a:prstGeom>
          <a:noFill/>
          <a:extLst>
            <a:ext uri="{909E8E84-426E-40DD-AFC4-6F175D3DCCD1}">
              <a14:hiddenFill xmlns:a14="http://schemas.microsoft.com/office/drawing/2010/main">
                <a:solidFill>
                  <a:srgbClr val="FFFFFF"/>
                </a:solidFill>
              </a14:hiddenFill>
            </a:ext>
          </a:extLst>
        </p:spPr>
      </p:pic>
    </p:spTree>
    <p:custDataLst>
      <p:tags r:id="rId7"/>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5" r:id="rId1"/>
    <p:sldLayoutId id="2147483656" r:id="rId2"/>
    <p:sldLayoutId id="2147483657" r:id="rId3"/>
    <p:sldLayoutId id="2147483658" r:id="rId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6.xml"/><Relationship Id="rId1" Type="http://schemas.openxmlformats.org/officeDocument/2006/relationships/tags" Target="../tags/tag3.xml"/><Relationship Id="rId5" Type="http://schemas.openxmlformats.org/officeDocument/2006/relationships/image" Target="../media/image2.jp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hyperlink" Target="https://www.linkedin.com/posts/tilak-gupta-0121b6220_powerbi-dataanalytics-microsoftelevate-activity-7438495819479257088-h4Ez?utm_source=share&amp;utm_medium=member_desktop&amp;rcm=ACoAADeO744BuL1qOlX8ImTu6BH1wA1Xg6WJCMU" TargetMode="External"/><Relationship Id="rId2" Type="http://schemas.openxmlformats.org/officeDocument/2006/relationships/hyperlink" Target="https://github.com/tilakygupta/migration-pressure-index-powerbi.git" TargetMode="External"/><Relationship Id="rId1" Type="http://schemas.openxmlformats.org/officeDocument/2006/relationships/slideLayout" Target="../slideLayouts/slideLayout3.xml"/><Relationship Id="rId4" Type="http://schemas.openxmlformats.org/officeDocument/2006/relationships/hyperlink" Target="https://app.powerbi.com/links/wI7I1n8Xjz?ctid=e6193331-b1be-4c4b-bce1-6e536a914527&amp;pbi_source=linkShare" TargetMode="Externa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tags" Target="../tags/tag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8"/>
          <p:cNvSpPr/>
          <p:nvPr/>
        </p:nvSpPr>
        <p:spPr>
          <a:xfrm>
            <a:off x="-32657" y="3429000"/>
            <a:ext cx="424543" cy="3429000"/>
          </a:xfrm>
          <a:prstGeom prst="rect">
            <a:avLst/>
          </a:prstGeom>
          <a:solidFill>
            <a:srgbClr val="34A7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p:cNvSpPr/>
          <p:nvPr/>
        </p:nvSpPr>
        <p:spPr>
          <a:xfrm>
            <a:off x="0" y="0"/>
            <a:ext cx="228600" cy="3429000"/>
          </a:xfrm>
          <a:prstGeom prst="rect">
            <a:avLst/>
          </a:prstGeom>
          <a:solidFill>
            <a:srgbClr val="26357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p:cNvSpPr/>
          <p:nvPr/>
        </p:nvSpPr>
        <p:spPr>
          <a:xfrm>
            <a:off x="7913913" y="0"/>
            <a:ext cx="4985657" cy="31568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p:cNvSpPr/>
          <p:nvPr/>
        </p:nvSpPr>
        <p:spPr>
          <a:xfrm>
            <a:off x="-32657" y="6509659"/>
            <a:ext cx="12888684" cy="348341"/>
          </a:xfrm>
          <a:prstGeom prst="rect">
            <a:avLst/>
          </a:prstGeom>
          <a:solidFill>
            <a:srgbClr val="34A7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0" name="Picture 2" descr="A black background with grey text&#10;&#10;AI-generated content may be incorrect."/>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97304" y="316620"/>
            <a:ext cx="1725854" cy="562925"/>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p:cNvSpPr>
            <a:spLocks noGrp="1" noRot="1" noChangeAspect="1" noMove="1" noResize="1" noEditPoints="1" noAdjustHandles="1" noChangeArrowheads="1" noChangeShapeType="1" noTextEdit="1"/>
          </p:cNvSpPr>
          <p:nvPr/>
        </p:nvSpPr>
        <p:spPr bwMode="white">
          <a:xfrm>
            <a:off x="0" y="0"/>
            <a:ext cx="12191999" cy="685736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GB"/>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 name="Title 1"/>
          <p:cNvSpPr>
            <a:spLocks noGrp="1"/>
          </p:cNvSpPr>
          <p:nvPr/>
        </p:nvSpPr>
        <p:spPr>
          <a:xfrm>
            <a:off x="688623" y="1276926"/>
            <a:ext cx="4575528" cy="2572894"/>
          </a:xfrm>
          <a:prstGeom prst="rect">
            <a:avLst/>
          </a:prstGeom>
        </p:spPr>
        <p:txBody>
          <a:bodyPr vert="horz" lIns="91440" tIns="45720" rIns="91440" bIns="45720" rtlCol="0" anchor="b">
            <a:normAutofit fontScale="775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2800" b="1" kern="1200" dirty="0"/>
              <a:t>CAPSTONE </a:t>
            </a:r>
            <a:r>
              <a:rPr lang="en-US" sz="2800" b="1" dirty="0"/>
              <a:t>PROJECT</a:t>
            </a:r>
            <a:endParaRPr lang="en-US" sz="5100" dirty="0">
              <a:latin typeface="Aptos"/>
            </a:endParaRPr>
          </a:p>
          <a:p>
            <a:pPr algn="l"/>
            <a:br>
              <a:rPr lang="en-US" sz="5100" b="1" dirty="0"/>
            </a:br>
            <a:r>
              <a:rPr lang="en-US" sz="5100" b="1" cap="all" dirty="0">
                <a:latin typeface="Aptos"/>
              </a:rPr>
              <a:t>Migration Pressure Index of Indian States</a:t>
            </a:r>
            <a:endParaRPr lang="en-US" sz="5100" dirty="0">
              <a:latin typeface="Aptos"/>
            </a:endParaRPr>
          </a:p>
          <a:p>
            <a:pPr algn="l"/>
            <a:endParaRPr lang="en-US" sz="5100" b="1" kern="1200" dirty="0"/>
          </a:p>
        </p:txBody>
      </p:sp>
      <p:sp>
        <p:nvSpPr>
          <p:cNvPr id="5" name="Subtitle 2"/>
          <p:cNvSpPr>
            <a:spLocks noGrp="1"/>
          </p:cNvSpPr>
          <p:nvPr/>
        </p:nvSpPr>
        <p:spPr>
          <a:xfrm>
            <a:off x="594127" y="3739889"/>
            <a:ext cx="4166512" cy="1915537"/>
          </a:xfrm>
          <a:prstGeom prst="rect">
            <a:avLst/>
          </a:prstGeom>
        </p:spPr>
        <p:txBody>
          <a:bodyPr vert="horz" lIns="91440" tIns="45720" rIns="91440" bIns="4572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spcAft>
                <a:spcPts val="600"/>
              </a:spcAft>
            </a:pPr>
            <a:r>
              <a:rPr lang="en-US" sz="1600" b="1" cap="all" dirty="0"/>
              <a:t>Presented By</a:t>
            </a:r>
            <a:endParaRPr lang="en-US" sz="1600" cap="all" dirty="0"/>
          </a:p>
          <a:p>
            <a:pPr algn="l">
              <a:spcAft>
                <a:spcPts val="600"/>
              </a:spcAft>
            </a:pPr>
            <a:r>
              <a:rPr lang="en-US" sz="1600" b="1" cap="all" dirty="0"/>
              <a:t>Student Name: Tilak Yogesh gupta</a:t>
            </a:r>
          </a:p>
          <a:p>
            <a:pPr algn="l">
              <a:spcAft>
                <a:spcPts val="600"/>
              </a:spcAft>
            </a:pPr>
            <a:r>
              <a:rPr lang="en-US" sz="1600" b="1" cap="all" dirty="0"/>
              <a:t>College Name: thakur college of engineering &amp; technology</a:t>
            </a:r>
          </a:p>
          <a:p>
            <a:pPr algn="l">
              <a:spcAft>
                <a:spcPts val="600"/>
              </a:spcAft>
            </a:pPr>
            <a:r>
              <a:rPr lang="en-US" sz="1600" b="1" cap="all" dirty="0"/>
              <a:t>Department: Masters of computer applications</a:t>
            </a:r>
          </a:p>
          <a:p>
            <a:pPr algn="l">
              <a:spcAft>
                <a:spcPts val="600"/>
              </a:spcAft>
            </a:pPr>
            <a:r>
              <a:rPr lang="en-US" sz="1600" b="1" cap="all" dirty="0"/>
              <a:t>Email ID: tilakygupta@gmail.com</a:t>
            </a:r>
          </a:p>
        </p:txBody>
      </p:sp>
      <p:sp>
        <p:nvSpPr>
          <p:cNvPr id="8" name="Rectangle 7"/>
          <p:cNvSpPr>
            <a:spLocks noGrp="1" noRot="1" noChangeAspect="1" noMove="1" noResize="1" noEditPoints="1" noAdjustHandles="1" noChangeArrowheads="1" noChangeShapeType="1" noTextEdit="1"/>
          </p:cNvSpPr>
          <p:nvPr/>
        </p:nvSpPr>
        <p:spPr>
          <a:xfrm>
            <a:off x="5386598" y="269324"/>
            <a:ext cx="6116779" cy="620877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GB"/>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9" name="Picture 8"/>
          <p:cNvPicPr>
            <a:picLocks noChangeAspect="1"/>
          </p:cNvPicPr>
          <p:nvPr/>
        </p:nvPicPr>
        <p:blipFill>
          <a:blip r:embed="rId5">
            <a:extLst>
              <a:ext uri="{28A0092B-C50C-407E-A947-70E740481C1C}">
                <a14:useLocalDpi xmlns:a14="http://schemas.microsoft.com/office/drawing/2010/main" val="0"/>
              </a:ext>
            </a:extLst>
          </a:blip>
          <a:srcRect/>
          <a:stretch/>
        </p:blipFill>
        <p:spPr>
          <a:xfrm>
            <a:off x="6409990" y="1276926"/>
            <a:ext cx="4590784" cy="4308694"/>
          </a:xfrm>
          <a:prstGeom prst="rect">
            <a:avLst/>
          </a:prstGeom>
        </p:spPr>
      </p:pic>
    </p:spTree>
    <p:custDataLst>
      <p:tags r:id="rId1"/>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191" y="698500"/>
            <a:ext cx="10515600" cy="1325563"/>
          </a:xfrm>
        </p:spPr>
        <p:txBody>
          <a:bodyPr lIns="91440" tIns="45720" rIns="91440" bIns="45720" anchor="t">
            <a:normAutofit/>
          </a:bodyPr>
          <a:lstStyle/>
          <a:p>
            <a:r>
              <a:rPr lang="en-US" sz="5400" b="1" cap="all" dirty="0">
                <a:latin typeface="Arial" panose="020B0604020202020204"/>
                <a:cs typeface="Arial" panose="020B0604020202020204"/>
              </a:rPr>
              <a:t>OUTLINE:</a:t>
            </a:r>
            <a:endParaRPr lang="en-US" sz="5400" dirty="0"/>
          </a:p>
        </p:txBody>
      </p:sp>
      <p:sp>
        <p:nvSpPr>
          <p:cNvPr id="3" name="Content Placeholder 2"/>
          <p:cNvSpPr>
            <a:spLocks noGrp="1"/>
          </p:cNvSpPr>
          <p:nvPr>
            <p:ph idx="1"/>
          </p:nvPr>
        </p:nvSpPr>
        <p:spPr>
          <a:xfrm>
            <a:off x="433387" y="1822228"/>
            <a:ext cx="10515600" cy="4251960"/>
          </a:xfrm>
        </p:spPr>
        <p:txBody>
          <a:bodyPr vert="horz" lIns="91440" tIns="45720" rIns="91440" bIns="45720" rtlCol="0">
            <a:normAutofit/>
          </a:bodyPr>
          <a:lstStyle/>
          <a:p>
            <a:pPr marL="305435" indent="-305435">
              <a:spcBef>
                <a:spcPct val="20000"/>
              </a:spcBef>
              <a:spcAft>
                <a:spcPts val="600"/>
              </a:spcAft>
            </a:pPr>
            <a:r>
              <a:rPr lang="en-US" sz="2400" b="1" dirty="0">
                <a:latin typeface="Times New Roman" panose="02020603050405020304" pitchFamily="18" charset="0"/>
                <a:cs typeface="Times New Roman" panose="02020603050405020304" pitchFamily="18" charset="0"/>
              </a:rPr>
              <a:t>Problem Statement </a:t>
            </a:r>
          </a:p>
          <a:p>
            <a:pPr marL="305435" indent="-305435">
              <a:spcBef>
                <a:spcPct val="20000"/>
              </a:spcBef>
              <a:spcAft>
                <a:spcPts val="600"/>
              </a:spcAft>
            </a:pPr>
            <a:r>
              <a:rPr lang="en-US" sz="2400" b="1" dirty="0">
                <a:latin typeface="Times New Roman" panose="02020603050405020304" pitchFamily="18" charset="0"/>
                <a:cs typeface="Times New Roman" panose="02020603050405020304" pitchFamily="18" charset="0"/>
              </a:rPr>
              <a:t>Proposed System/Solution</a:t>
            </a:r>
            <a:endParaRPr lang="en-US" sz="2400" dirty="0">
              <a:latin typeface="Times New Roman" panose="02020603050405020304" pitchFamily="18" charset="0"/>
              <a:cs typeface="Times New Roman" panose="02020603050405020304" pitchFamily="18" charset="0"/>
            </a:endParaRPr>
          </a:p>
          <a:p>
            <a:pPr marL="305435" indent="-305435">
              <a:spcBef>
                <a:spcPct val="20000"/>
              </a:spcBef>
              <a:spcAft>
                <a:spcPts val="600"/>
              </a:spcAft>
            </a:pPr>
            <a:r>
              <a:rPr lang="en-US" sz="2400" b="1" dirty="0">
                <a:latin typeface="Times New Roman" panose="02020603050405020304" pitchFamily="18" charset="0"/>
                <a:cs typeface="Times New Roman" panose="02020603050405020304" pitchFamily="18" charset="0"/>
              </a:rPr>
              <a:t>System Development Approach</a:t>
            </a:r>
            <a:endParaRPr lang="en-US" sz="2400" dirty="0">
              <a:latin typeface="Times New Roman" panose="02020603050405020304" pitchFamily="18" charset="0"/>
              <a:cs typeface="Times New Roman" panose="02020603050405020304" pitchFamily="18" charset="0"/>
            </a:endParaRPr>
          </a:p>
          <a:p>
            <a:pPr marL="305435" indent="-305435">
              <a:spcBef>
                <a:spcPct val="20000"/>
              </a:spcBef>
              <a:spcAft>
                <a:spcPts val="600"/>
              </a:spcAft>
            </a:pPr>
            <a:r>
              <a:rPr lang="en-US" sz="2400" b="1" dirty="0">
                <a:latin typeface="Times New Roman" panose="02020603050405020304" pitchFamily="18" charset="0"/>
                <a:cs typeface="Times New Roman" panose="02020603050405020304" pitchFamily="18" charset="0"/>
              </a:rPr>
              <a:t>Algorithm &amp; Deployment  </a:t>
            </a:r>
            <a:endParaRPr lang="en-US" sz="2400" dirty="0">
              <a:latin typeface="Times New Roman" panose="02020603050405020304" pitchFamily="18" charset="0"/>
              <a:cs typeface="Times New Roman" panose="02020603050405020304" pitchFamily="18" charset="0"/>
            </a:endParaRPr>
          </a:p>
          <a:p>
            <a:pPr marL="305435" indent="-305435">
              <a:spcBef>
                <a:spcPct val="20000"/>
              </a:spcBef>
              <a:spcAft>
                <a:spcPts val="600"/>
              </a:spcAft>
            </a:pPr>
            <a:r>
              <a:rPr lang="en-US" sz="2400" b="1" dirty="0">
                <a:latin typeface="Times New Roman" panose="02020603050405020304" pitchFamily="18" charset="0"/>
                <a:cs typeface="Times New Roman" panose="02020603050405020304" pitchFamily="18" charset="0"/>
              </a:rPr>
              <a:t>Result</a:t>
            </a:r>
            <a:endParaRPr lang="en-US" sz="2400" dirty="0">
              <a:latin typeface="Times New Roman" panose="02020603050405020304" pitchFamily="18" charset="0"/>
              <a:cs typeface="Times New Roman" panose="02020603050405020304" pitchFamily="18" charset="0"/>
            </a:endParaRPr>
          </a:p>
          <a:p>
            <a:pPr marL="305435" indent="-305435">
              <a:spcBef>
                <a:spcPct val="20000"/>
              </a:spcBef>
              <a:spcAft>
                <a:spcPts val="600"/>
              </a:spcAft>
            </a:pPr>
            <a:r>
              <a:rPr lang="en-US" sz="2400" b="1" dirty="0">
                <a:latin typeface="Times New Roman" panose="02020603050405020304" pitchFamily="18" charset="0"/>
                <a:cs typeface="Times New Roman" panose="02020603050405020304" pitchFamily="18" charset="0"/>
              </a:rPr>
              <a:t>Conclusion</a:t>
            </a:r>
            <a:endParaRPr lang="en-US" sz="2400" dirty="0">
              <a:latin typeface="Times New Roman" panose="02020603050405020304" pitchFamily="18" charset="0"/>
              <a:cs typeface="Times New Roman" panose="02020603050405020304" pitchFamily="18" charset="0"/>
            </a:endParaRPr>
          </a:p>
          <a:p>
            <a:pPr marL="305435" indent="-305435">
              <a:spcBef>
                <a:spcPct val="20000"/>
              </a:spcBef>
              <a:spcAft>
                <a:spcPts val="600"/>
              </a:spcAft>
            </a:pPr>
            <a:r>
              <a:rPr lang="en-US" sz="2400" b="1" dirty="0">
                <a:latin typeface="Times New Roman" panose="02020603050405020304" pitchFamily="18" charset="0"/>
                <a:cs typeface="Times New Roman" panose="02020603050405020304" pitchFamily="18" charset="0"/>
              </a:rPr>
              <a:t>Future Scope</a:t>
            </a:r>
            <a:endParaRPr lang="en-US" sz="2400" dirty="0">
              <a:latin typeface="Times New Roman" panose="02020603050405020304" pitchFamily="18" charset="0"/>
              <a:cs typeface="Times New Roman" panose="02020603050405020304" pitchFamily="18" charset="0"/>
            </a:endParaRPr>
          </a:p>
          <a:p>
            <a:pPr marL="305435" indent="-305435">
              <a:spcBef>
                <a:spcPct val="20000"/>
              </a:spcBef>
              <a:spcAft>
                <a:spcPts val="600"/>
              </a:spcAft>
            </a:pPr>
            <a:r>
              <a:rPr lang="en-US" sz="2400" b="1" dirty="0">
                <a:latin typeface="Times New Roman" panose="02020603050405020304" pitchFamily="18" charset="0"/>
                <a:cs typeface="Times New Roman" panose="02020603050405020304" pitchFamily="18" charset="0"/>
              </a:rPr>
              <a:t>References</a:t>
            </a:r>
            <a:endParaRPr lang="en-US" sz="2400" dirty="0">
              <a:latin typeface="Times New Roman" panose="02020603050405020304" pitchFamily="18" charset="0"/>
              <a:cs typeface="Times New Roman" panose="02020603050405020304" pitchFamily="18" charset="0"/>
            </a:endParaRPr>
          </a:p>
          <a:p>
            <a:endParaRPr lang="en-GB" sz="22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191" y="686594"/>
            <a:ext cx="10515600" cy="1325563"/>
          </a:xfrm>
        </p:spPr>
        <p:txBody>
          <a:bodyPr lIns="91440" tIns="45720" rIns="91440" bIns="45720" anchor="t">
            <a:normAutofit/>
          </a:bodyPr>
          <a:lstStyle/>
          <a:p>
            <a:r>
              <a:rPr lang="en-US" sz="4000" b="1" cap="all">
                <a:latin typeface="Arial" panose="020B0604020202020204"/>
                <a:cs typeface="Arial" panose="020B0604020202020204"/>
              </a:rPr>
              <a:t>Problem Statement:</a:t>
            </a:r>
            <a:endParaRPr lang="en-US" sz="4000"/>
          </a:p>
        </p:txBody>
      </p:sp>
      <p:sp>
        <p:nvSpPr>
          <p:cNvPr id="3" name="Content Placeholder 2"/>
          <p:cNvSpPr>
            <a:spLocks noGrp="1"/>
          </p:cNvSpPr>
          <p:nvPr>
            <p:ph idx="1"/>
          </p:nvPr>
        </p:nvSpPr>
        <p:spPr>
          <a:xfrm>
            <a:off x="290512" y="1334814"/>
            <a:ext cx="11617710" cy="5265683"/>
          </a:xfrm>
        </p:spPr>
        <p:txBody>
          <a:bodyPr vert="horz" lIns="91440" tIns="45720" rIns="91440" bIns="45720" rtlCol="0">
            <a:normAutofit/>
          </a:bodyPr>
          <a:lstStyle/>
          <a:p>
            <a:pPr marL="0" indent="0" algn="just">
              <a:buNone/>
            </a:pPr>
            <a:r>
              <a:rPr lang="en-IN" sz="2500" dirty="0">
                <a:latin typeface="Times New Roman" panose="02020603050405020304" pitchFamily="18" charset="0"/>
                <a:cs typeface="Times New Roman" panose="02020603050405020304" pitchFamily="18" charset="0"/>
              </a:rPr>
              <a:t>India has over 45.6 crore internal migrants — 38% of the total population. Between 2001 and 2011, the migrant population grew by 45%, yet no unified open-data dashboard exists that combines push and pull factors to map migration pressure at the state level.
Key issues: Bihar unemployment is 16.4% and daily wage is just Rs.250 — vs Delhi's Rs.650 (2.6x difference). No composite Migration Pressure Index (MPI) combining unemployment, poverty, literacy deficit, wage gap, drought, and infrastructure deficit existed for policymakers.
Ministry of Labour, NITI Aayog, and state governments lacked a real-time interactive tool to identify high-pressure migration zones and design targeted interventions.</a:t>
            </a:r>
            <a:endParaRPr lang="en-US" sz="25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191" y="603250"/>
            <a:ext cx="10515600" cy="1325563"/>
          </a:xfrm>
        </p:spPr>
        <p:txBody>
          <a:bodyPr lIns="91440" tIns="45720" rIns="91440" bIns="45720" anchor="t">
            <a:normAutofit/>
          </a:bodyPr>
          <a:lstStyle/>
          <a:p>
            <a:r>
              <a:rPr lang="en-US" sz="4000" b="1" cap="all">
                <a:latin typeface="Arial" panose="020B0604020202020204"/>
                <a:cs typeface="Arial" panose="020B0604020202020204"/>
              </a:rPr>
              <a:t>Proposed Solution:</a:t>
            </a:r>
            <a:endParaRPr lang="en-US" sz="4000" dirty="0"/>
          </a:p>
        </p:txBody>
      </p:sp>
      <p:sp>
        <p:nvSpPr>
          <p:cNvPr id="3" name="Content Placeholder 2"/>
          <p:cNvSpPr>
            <a:spLocks noGrp="1"/>
          </p:cNvSpPr>
          <p:nvPr>
            <p:ph idx="1"/>
          </p:nvPr>
        </p:nvSpPr>
        <p:spPr>
          <a:xfrm>
            <a:off x="219074" y="1304306"/>
            <a:ext cx="11552511" cy="4950444"/>
          </a:xfrm>
        </p:spPr>
        <p:txBody>
          <a:bodyPr vert="horz" lIns="91440" tIns="45720" rIns="91440" bIns="45720" rtlCol="0" anchor="t">
            <a:noAutofit/>
          </a:bodyPr>
          <a:lstStyle/>
          <a:p>
            <a:pPr marL="305435" indent="-305435">
              <a:spcBef>
                <a:spcPct val="20000"/>
              </a:spcBef>
              <a:spcAft>
                <a:spcPts val="600"/>
              </a:spcAft>
              <a:buFont typeface="Arial" panose="020B0604020202020204"/>
              <a:buChar char="•"/>
            </a:pPr>
            <a:r>
              <a:rPr lang="en-IN" sz="1800" b="1" dirty="0">
                <a:latin typeface="Times New Roman" panose="02020603050405020304" pitchFamily="18" charset="0"/>
                <a:ea typeface="Calibri" panose="020F0502020204030204"/>
                <a:cs typeface="Times New Roman" panose="02020603050405020304" pitchFamily="18" charset="0"/>
              </a:rPr>
              <a:t>An interactive 5-page Power BI dashboard computing a composite Migration Pressure Index (MPI) score (0-100) for 30 Indian states. MPI Formula: MPI = (0.25 x Unemployment) + (0.20 x Poverty) + (0.15 x Literacy Deficit) + (0.20 x Wage Gap) + (0.10 x Drought) + (0.10 x Infrastructure Deficit). All indicators Min-Max normalized.</a:t>
            </a:r>
            <a:endParaRPr lang="en-IN" sz="1800" dirty="0">
              <a:latin typeface="Times New Roman" panose="02020603050405020304" pitchFamily="18" charset="0"/>
              <a:ea typeface="Calibri" panose="020F0502020204030204"/>
              <a:cs typeface="Times New Roman" panose="02020603050405020304" pitchFamily="18" charset="0"/>
            </a:endParaRPr>
          </a:p>
          <a:p>
            <a:pPr marL="305435" indent="-305435">
              <a:spcBef>
                <a:spcPct val="20000"/>
              </a:spcBef>
              <a:spcAft>
                <a:spcPts val="600"/>
              </a:spcAft>
              <a:buFont typeface="Arial" panose="020B0604020202020204"/>
              <a:buChar char="•"/>
            </a:pPr>
            <a:r>
              <a:rPr lang="en-IN" sz="1800" b="1" dirty="0">
                <a:latin typeface="Times New Roman" panose="02020603050405020304" pitchFamily="18" charset="0"/>
                <a:ea typeface="Calibri" panose="020F0502020204030204"/>
                <a:cs typeface="Times New Roman" panose="02020603050405020304" pitchFamily="18" charset="0"/>
              </a:rPr>
              <a:t>Dashboard Pages:</a:t>
            </a:r>
            <a:endParaRPr lang="en-IN" sz="1800" dirty="0">
              <a:latin typeface="Times New Roman" panose="02020603050405020304" pitchFamily="18" charset="0"/>
              <a:ea typeface="Calibri" panose="020F0502020204030204"/>
              <a:cs typeface="Times New Roman" panose="02020603050405020304" pitchFamily="18" charset="0"/>
            </a:endParaRPr>
          </a:p>
          <a:p>
            <a:pPr marL="495935" lvl="1" indent="-171450">
              <a:spcBef>
                <a:spcPct val="20000"/>
              </a:spcBef>
              <a:spcAft>
                <a:spcPts val="600"/>
              </a:spcAft>
            </a:pPr>
            <a:r>
              <a:rPr lang="en-IN" sz="1800" dirty="0">
                <a:latin typeface="Times New Roman" panose="02020603050405020304" pitchFamily="18" charset="0"/>
                <a:ea typeface="Calibri" panose="020F0502020204030204"/>
                <a:cs typeface="Times New Roman" panose="02020603050405020304" pitchFamily="18" charset="0"/>
              </a:rPr>
              <a:t>Page 1 National Overview: Filled map of India coloured by MPI + KPI cards + region slicer.</a:t>
            </a:r>
          </a:p>
          <a:p>
            <a:pPr marL="495935" lvl="1" indent="-171450">
              <a:spcBef>
                <a:spcPct val="20000"/>
              </a:spcBef>
              <a:spcAft>
                <a:spcPts val="600"/>
              </a:spcAft>
            </a:pPr>
            <a:r>
              <a:rPr lang="en-IN" sz="1800" dirty="0">
                <a:latin typeface="Times New Roman" panose="02020603050405020304" pitchFamily="18" charset="0"/>
                <a:ea typeface="Calibri" panose="020F0502020204030204"/>
                <a:cs typeface="Times New Roman" panose="02020603050405020304" pitchFamily="18" charset="0"/>
              </a:rPr>
              <a:t>Page 2 Push Factors: Unemployment, poverty, wage, literacy charts showing why people leave.</a:t>
            </a:r>
          </a:p>
          <a:p>
            <a:pPr marL="495935" lvl="1" indent="-171450">
              <a:spcBef>
                <a:spcPct val="20000"/>
              </a:spcBef>
              <a:spcAft>
                <a:spcPts val="600"/>
              </a:spcAft>
            </a:pPr>
            <a:r>
              <a:rPr lang="en-IN" sz="1800" dirty="0">
                <a:latin typeface="Times New Roman" panose="02020603050405020304" pitchFamily="18" charset="0"/>
                <a:ea typeface="Calibri" panose="020F0502020204030204"/>
                <a:cs typeface="Times New Roman" panose="02020603050405020304" pitchFamily="18" charset="0"/>
              </a:rPr>
              <a:t>Page 3 Pull Factors: Urban GDP, infrastructure, in-migration charts showing why migrants arrive.</a:t>
            </a:r>
          </a:p>
          <a:p>
            <a:pPr marL="495935" lvl="1" indent="-171450">
              <a:spcBef>
                <a:spcPct val="20000"/>
              </a:spcBef>
              <a:spcAft>
                <a:spcPts val="600"/>
              </a:spcAft>
            </a:pPr>
            <a:r>
              <a:rPr lang="en-IN" sz="1800" dirty="0">
                <a:latin typeface="Times New Roman" panose="02020603050405020304" pitchFamily="18" charset="0"/>
                <a:ea typeface="Calibri" panose="020F0502020204030204"/>
                <a:cs typeface="Times New Roman" panose="02020603050405020304" pitchFamily="18" charset="0"/>
              </a:rPr>
              <a:t>Page 4 Migration Flows: Source-to-destination heatmap matrix + top corridor bar chart.</a:t>
            </a:r>
          </a:p>
          <a:p>
            <a:pPr marL="495935" lvl="1" indent="-171450">
              <a:spcBef>
                <a:spcPct val="20000"/>
              </a:spcBef>
              <a:spcAft>
                <a:spcPts val="600"/>
              </a:spcAft>
            </a:pPr>
            <a:r>
              <a:rPr lang="en-IN" sz="1800" dirty="0">
                <a:latin typeface="Times New Roman" panose="02020603050405020304" pitchFamily="18" charset="0"/>
                <a:ea typeface="Calibri" panose="020F0502020204030204"/>
                <a:cs typeface="Times New Roman" panose="02020603050405020304" pitchFamily="18" charset="0"/>
              </a:rPr>
              <a:t>Page 5 Trend Analysis: 2001 vs 2011 MPI decade comparison with key insight text box.</a:t>
            </a:r>
          </a:p>
          <a:p>
            <a:pPr marL="305435" indent="-305435">
              <a:spcBef>
                <a:spcPct val="20000"/>
              </a:spcBef>
              <a:spcAft>
                <a:spcPts val="600"/>
              </a:spcAft>
              <a:buFont typeface="Arial" panose="020B0604020202020204"/>
              <a:buChar char="•"/>
            </a:pPr>
            <a:r>
              <a:rPr lang="en-IN" sz="1800" b="1" dirty="0">
                <a:latin typeface="Times New Roman" panose="02020603050405020304" pitchFamily="18" charset="0"/>
                <a:ea typeface="Calibri" panose="020F0502020204030204"/>
                <a:cs typeface="Times New Roman" panose="02020603050405020304" pitchFamily="18" charset="0"/>
              </a:rPr>
              <a:t>Data Sources:</a:t>
            </a:r>
            <a:endParaRPr lang="en-IN" sz="1800" dirty="0">
              <a:latin typeface="Times New Roman" panose="02020603050405020304" pitchFamily="18" charset="0"/>
              <a:ea typeface="Calibri" panose="020F0502020204030204"/>
              <a:cs typeface="Times New Roman" panose="02020603050405020304" pitchFamily="18" charset="0"/>
            </a:endParaRPr>
          </a:p>
          <a:p>
            <a:pPr marL="629920" lvl="1" indent="-305435">
              <a:spcBef>
                <a:spcPct val="20000"/>
              </a:spcBef>
              <a:spcAft>
                <a:spcPts val="600"/>
              </a:spcAft>
              <a:buFont typeface="Arial" panose="020B0604020202020204"/>
              <a:buChar char="•"/>
            </a:pPr>
            <a:r>
              <a:rPr lang="en-IN" sz="1800" dirty="0">
                <a:latin typeface="Times New Roman" panose="02020603050405020304" pitchFamily="18" charset="0"/>
                <a:ea typeface="Calibri" panose="020F0502020204030204"/>
                <a:cs typeface="Times New Roman" panose="02020603050405020304" pitchFamily="18" charset="0"/>
              </a:rPr>
              <a:t>6 CSV datasets from NDAP (ndap.niti.gov.in): Census 2011 D-Series, PLFS Unemployment, BPL Poverty, NFHS-5 Infrastructure, CMIE Daily Wages, Trend 2001-2011.</a:t>
            </a:r>
          </a:p>
          <a:p>
            <a:pPr marL="629920" lvl="1" indent="-305435">
              <a:spcBef>
                <a:spcPct val="20000"/>
              </a:spcBef>
              <a:spcAft>
                <a:spcPts val="600"/>
              </a:spcAft>
              <a:buFont typeface="Arial" panose="020B0604020202020204"/>
              <a:buChar char="•"/>
            </a:pPr>
            <a:r>
              <a:rPr lang="en-IN" sz="1800" dirty="0">
                <a:latin typeface="Times New Roman" panose="02020603050405020304" pitchFamily="18" charset="0"/>
                <a:ea typeface="Calibri" panose="020F0502020204030204"/>
                <a:cs typeface="Times New Roman" panose="02020603050405020304" pitchFamily="18" charset="0"/>
              </a:rPr>
              <a:t>Published to Power BI Service (app.powerbi.com). GitHub repository with all 6 datasets, PBIX file and README uploaded.</a:t>
            </a:r>
          </a:p>
          <a:p>
            <a:pPr marL="305435" indent="-305435">
              <a:spcBef>
                <a:spcPct val="20000"/>
              </a:spcBef>
              <a:spcAft>
                <a:spcPts val="600"/>
              </a:spcAft>
              <a:buFont typeface="Arial" panose="020B0604020202020204"/>
              <a:buChar char="•"/>
            </a:pPr>
            <a:endParaRPr lang="en-GB"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48" y="699528"/>
            <a:ext cx="10515600" cy="1325563"/>
          </a:xfrm>
        </p:spPr>
        <p:txBody>
          <a:bodyPr lIns="91440" tIns="45720" rIns="91440" bIns="45720" anchor="t">
            <a:normAutofit/>
          </a:bodyPr>
          <a:lstStyle/>
          <a:p>
            <a:r>
              <a:rPr lang="en-US" sz="4000" b="1" cap="all">
                <a:latin typeface="Arial" panose="020B0604020202020204"/>
                <a:cs typeface="Arial" panose="020B0604020202020204"/>
              </a:rPr>
              <a:t>System  Approach:</a:t>
            </a:r>
            <a:endParaRPr lang="en-US" sz="4000" dirty="0"/>
          </a:p>
        </p:txBody>
      </p:sp>
      <p:sp>
        <p:nvSpPr>
          <p:cNvPr id="3" name="Content Placeholder 2"/>
          <p:cNvSpPr>
            <a:spLocks noGrp="1"/>
          </p:cNvSpPr>
          <p:nvPr>
            <p:ph idx="1"/>
          </p:nvPr>
        </p:nvSpPr>
        <p:spPr>
          <a:xfrm>
            <a:off x="168166" y="1460937"/>
            <a:ext cx="11340662" cy="4981903"/>
          </a:xfrm>
        </p:spPr>
        <p:txBody>
          <a:bodyPr vert="horz" lIns="91440" tIns="45720" rIns="91440" bIns="45720" rtlCol="0">
            <a:normAutofit/>
          </a:bodyPr>
          <a:lstStyle/>
          <a:p>
            <a:pPr marL="0" indent="0">
              <a:spcBef>
                <a:spcPct val="20000"/>
              </a:spcBef>
              <a:spcAft>
                <a:spcPts val="600"/>
              </a:spcAft>
              <a:buNone/>
            </a:pPr>
            <a:r>
              <a:rPr lang="en-IN" sz="2400" b="1" dirty="0">
                <a:latin typeface="Times New Roman" panose="02020603050405020304" pitchFamily="18" charset="0"/>
                <a:cs typeface="Times New Roman" panose="02020603050405020304" pitchFamily="18" charset="0"/>
              </a:rPr>
              <a:t>Tools Used: Microsoft Power BI Desktop (dashboard design), Power Query (data cleaning and ETL), DAX - Data Analysis Expressions (calculated columns and measures), Star Schema (6-table data model linked via State column).</a:t>
            </a:r>
          </a:p>
          <a:p>
            <a:pPr marL="0" indent="0">
              <a:spcBef>
                <a:spcPct val="20000"/>
              </a:spcBef>
              <a:spcAft>
                <a:spcPts val="600"/>
              </a:spcAft>
              <a:buNone/>
            </a:pPr>
            <a:endParaRPr lang="en-US" sz="2400" dirty="0">
              <a:latin typeface="Times New Roman" panose="02020603050405020304" pitchFamily="18" charset="0"/>
              <a:cs typeface="Times New Roman" panose="02020603050405020304" pitchFamily="18" charset="0"/>
            </a:endParaRPr>
          </a:p>
          <a:p>
            <a:pPr marL="762635" lvl="1" indent="-305435">
              <a:spcBef>
                <a:spcPct val="20000"/>
              </a:spcBef>
              <a:spcAft>
                <a:spcPts val="600"/>
              </a:spcAft>
              <a:buFont typeface="Arial" panose="020B0604020202020204"/>
              <a:buChar char="•"/>
            </a:pPr>
            <a:r>
              <a:rPr lang="en-IN" dirty="0">
                <a:latin typeface="Times New Roman" panose="02020603050405020304" pitchFamily="18" charset="0"/>
                <a:cs typeface="Times New Roman" panose="02020603050405020304" pitchFamily="18" charset="0"/>
              </a:rPr>
              <a:t>Data Preparation (Power Query): Load 6 CSVs individually via Get Data &gt; Text/CSV. Trim whitespace on State column. Fix data types (Text/Whole Number/Decimal). Remove blank rows. Rename tables: MigrationIndex, MigrationFlows, PushFactors, PullFactors, MigrationReasons, TrendData.</a:t>
            </a:r>
          </a:p>
          <a:p>
            <a:pPr marL="457200" lvl="1" indent="0">
              <a:spcBef>
                <a:spcPct val="20000"/>
              </a:spcBef>
              <a:spcAft>
                <a:spcPts val="600"/>
              </a:spcAft>
              <a:buNone/>
            </a:pPr>
            <a:endParaRPr lang="en-US" dirty="0">
              <a:latin typeface="Times New Roman" panose="02020603050405020304" pitchFamily="18" charset="0"/>
              <a:cs typeface="Times New Roman" panose="02020603050405020304" pitchFamily="18" charset="0"/>
            </a:endParaRPr>
          </a:p>
          <a:p>
            <a:pPr marL="762635" lvl="1" indent="-305435">
              <a:spcBef>
                <a:spcPct val="20000"/>
              </a:spcBef>
              <a:spcAft>
                <a:spcPts val="600"/>
              </a:spcAft>
              <a:buFont typeface="Arial" panose="020B0604020202020204"/>
              <a:buChar char="•"/>
            </a:pPr>
            <a:r>
              <a:rPr lang="en-IN" dirty="0">
                <a:latin typeface="Times New Roman" panose="02020603050405020304" pitchFamily="18" charset="0"/>
                <a:cs typeface="Times New Roman" panose="02020603050405020304" pitchFamily="18" charset="0"/>
              </a:rPr>
              <a:t>Data Model (Star Schema): MigrationIndex is the central fact table. 5 Many-to-One relationships via State column. Cross filter direction: Single. Data Category for State column set to State or Province for map rendering.</a:t>
            </a:r>
            <a:endParaRPr lang="en-GB"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191" y="686594"/>
            <a:ext cx="10515600" cy="1325563"/>
          </a:xfrm>
        </p:spPr>
        <p:txBody>
          <a:bodyPr lIns="91440" tIns="45720" rIns="91440" bIns="45720" anchor="t">
            <a:normAutofit/>
          </a:bodyPr>
          <a:lstStyle/>
          <a:p>
            <a:r>
              <a:rPr lang="en-US" sz="4000" b="1" cap="all">
                <a:latin typeface="Arial" panose="020B0604020202020204"/>
                <a:cs typeface="Arial" panose="020B0604020202020204"/>
              </a:rPr>
              <a:t>Algorithm &amp; Deployment:</a:t>
            </a:r>
            <a:endParaRPr lang="en-US" sz="4000" dirty="0"/>
          </a:p>
        </p:txBody>
      </p:sp>
      <p:sp>
        <p:nvSpPr>
          <p:cNvPr id="3" name="Content Placeholder 2"/>
          <p:cNvSpPr>
            <a:spLocks noGrp="1"/>
          </p:cNvSpPr>
          <p:nvPr>
            <p:ph idx="1"/>
          </p:nvPr>
        </p:nvSpPr>
        <p:spPr>
          <a:xfrm>
            <a:off x="291005" y="1435561"/>
            <a:ext cx="11609990" cy="5049321"/>
          </a:xfrm>
        </p:spPr>
        <p:txBody>
          <a:bodyPr vert="horz" lIns="91440" tIns="45720" rIns="91440" bIns="45720" rtlCol="0">
            <a:normAutofit/>
          </a:bodyPr>
          <a:lstStyle/>
          <a:p>
            <a:pPr marL="305435" indent="-305435">
              <a:spcBef>
                <a:spcPct val="20000"/>
              </a:spcBef>
              <a:spcAft>
                <a:spcPts val="600"/>
              </a:spcAft>
              <a:buFont typeface="Arial" panose="020B0604020202020204"/>
              <a:buChar char="•"/>
            </a:pPr>
            <a:r>
              <a:rPr lang="en-IN" sz="2000" dirty="0">
                <a:latin typeface="Times New Roman" panose="02020603050405020304" pitchFamily="18" charset="0"/>
                <a:cs typeface="Times New Roman" panose="02020603050405020304" pitchFamily="18" charset="0"/>
              </a:rPr>
              <a:t>MPI Calculation Algorithm using DAX in Power BI:</a:t>
            </a:r>
          </a:p>
          <a:p>
            <a:pPr marL="305435" indent="-305435">
              <a:spcBef>
                <a:spcPct val="20000"/>
              </a:spcBef>
              <a:spcAft>
                <a:spcPts val="600"/>
              </a:spcAft>
              <a:buFont typeface="Arial" panose="020B0604020202020204"/>
              <a:buChar char="•"/>
            </a:pPr>
            <a:r>
              <a:rPr lang="en-IN" sz="2000" b="1" dirty="0">
                <a:latin typeface="Times New Roman" panose="02020603050405020304" pitchFamily="18" charset="0"/>
                <a:cs typeface="Times New Roman" panose="02020603050405020304" pitchFamily="18" charset="0"/>
              </a:rPr>
              <a:t>Step 1 - Normalize each indicator (Min-Max to 0-1 scale):</a:t>
            </a:r>
            <a:endParaRPr lang="en-IN" sz="2000" dirty="0">
              <a:latin typeface="Times New Roman" panose="02020603050405020304" pitchFamily="18" charset="0"/>
              <a:cs typeface="Times New Roman" panose="02020603050405020304" pitchFamily="18" charset="0"/>
            </a:endParaRPr>
          </a:p>
          <a:p>
            <a:pPr marL="629920" lvl="1" indent="-305435">
              <a:spcBef>
                <a:spcPct val="20000"/>
              </a:spcBef>
              <a:spcAft>
                <a:spcPts val="600"/>
              </a:spcAft>
              <a:buFont typeface="Arial" panose="020B0604020202020204"/>
              <a:buChar char="•"/>
            </a:pPr>
            <a:r>
              <a:rPr lang="en-IN" sz="2000" dirty="0">
                <a:latin typeface="Times New Roman" panose="02020603050405020304" pitchFamily="18" charset="0"/>
                <a:cs typeface="Times New Roman" panose="02020603050405020304" pitchFamily="18" charset="0"/>
              </a:rPr>
              <a:t>UnempNorm=(Unemp-2)/(20-2), PovNorm=(Poverty-6)/(37-6), LitNorm=(100-Literacy)/(100-63), WageNorm=(680-Wage)/(680-220), DrNorm=Drought/4, InfrNorm=(88-Infra)/(88-22)</a:t>
            </a:r>
          </a:p>
          <a:p>
            <a:pPr marL="305435" indent="-305435">
              <a:spcBef>
                <a:spcPct val="20000"/>
              </a:spcBef>
              <a:spcAft>
                <a:spcPts val="600"/>
              </a:spcAft>
              <a:buFont typeface="Arial" panose="020B0604020202020204"/>
              <a:buChar char="•"/>
            </a:pPr>
            <a:r>
              <a:rPr lang="en-IN" sz="2000" b="1" dirty="0">
                <a:latin typeface="Times New Roman" panose="02020603050405020304" pitchFamily="18" charset="0"/>
                <a:cs typeface="Times New Roman" panose="02020603050405020304" pitchFamily="18" charset="0"/>
              </a:rPr>
              <a:t>Step 2 - Apply weights and compute final score:</a:t>
            </a:r>
            <a:endParaRPr lang="en-IN" sz="2000" dirty="0">
              <a:latin typeface="Times New Roman" panose="02020603050405020304" pitchFamily="18" charset="0"/>
              <a:cs typeface="Times New Roman" panose="02020603050405020304" pitchFamily="18" charset="0"/>
            </a:endParaRPr>
          </a:p>
          <a:p>
            <a:pPr marL="629920" lvl="1" indent="-305435">
              <a:spcBef>
                <a:spcPct val="20000"/>
              </a:spcBef>
              <a:spcAft>
                <a:spcPts val="600"/>
              </a:spcAft>
              <a:buFont typeface="Arial" panose="020B0604020202020204"/>
              <a:buChar char="•"/>
            </a:pPr>
            <a:r>
              <a:rPr lang="en-IN" sz="2000" dirty="0">
                <a:latin typeface="Times New Roman" panose="02020603050405020304" pitchFamily="18" charset="0"/>
                <a:cs typeface="Times New Roman" panose="02020603050405020304" pitchFamily="18" charset="0"/>
              </a:rPr>
              <a:t>MPI = ROUND((0.25xUnempNorm + 0.20xPovNorm + 0.15xLitNorm + 0.20xWageNorm + 0.10xDrNorm + 0.10xInfrNorm) x 100, 0)</a:t>
            </a:r>
          </a:p>
          <a:p>
            <a:pPr marL="305435" indent="-305435">
              <a:spcBef>
                <a:spcPct val="20000"/>
              </a:spcBef>
              <a:spcAft>
                <a:spcPts val="600"/>
              </a:spcAft>
              <a:buFont typeface="Arial" panose="020B0604020202020204"/>
              <a:buChar char="•"/>
            </a:pPr>
            <a:r>
              <a:rPr lang="en-IN" sz="2000" b="1" dirty="0">
                <a:latin typeface="Times New Roman" panose="02020603050405020304" pitchFamily="18" charset="0"/>
                <a:cs typeface="Times New Roman" panose="02020603050405020304" pitchFamily="18" charset="0"/>
              </a:rPr>
              <a:t>Step 3 - Classify each state:</a:t>
            </a:r>
            <a:endParaRPr lang="en-IN" sz="2000" dirty="0">
              <a:latin typeface="Times New Roman" panose="02020603050405020304" pitchFamily="18" charset="0"/>
              <a:cs typeface="Times New Roman" panose="02020603050405020304" pitchFamily="18" charset="0"/>
            </a:endParaRPr>
          </a:p>
          <a:p>
            <a:pPr marL="629920" lvl="1" indent="-305435">
              <a:spcBef>
                <a:spcPct val="20000"/>
              </a:spcBef>
              <a:spcAft>
                <a:spcPts val="600"/>
              </a:spcAft>
              <a:buFont typeface="Arial" panose="020B0604020202020204"/>
              <a:buChar char="•"/>
            </a:pPr>
            <a:r>
              <a:rPr lang="en-IN" sz="2000" dirty="0">
                <a:latin typeface="Times New Roman" panose="02020603050405020304" pitchFamily="18" charset="0"/>
                <a:cs typeface="Times New Roman" panose="02020603050405020304" pitchFamily="18" charset="0"/>
              </a:rPr>
              <a:t>MPI_Category = IF(MPI&gt;=70, Critical, IF(MPI&gt;=55, High, IF(MPI&gt;=40, Moderate, IF(MPI&gt;=28, Low, Minimal))))</a:t>
            </a:r>
          </a:p>
          <a:p>
            <a:pPr marL="305435" indent="-305435">
              <a:spcBef>
                <a:spcPct val="20000"/>
              </a:spcBef>
              <a:spcAft>
                <a:spcPts val="600"/>
              </a:spcAft>
              <a:buFont typeface="Arial" panose="020B0604020202020204"/>
              <a:buChar char="•"/>
            </a:pPr>
            <a:r>
              <a:rPr lang="en-IN" sz="2000" b="1" dirty="0">
                <a:latin typeface="Times New Roman" panose="02020603050405020304" pitchFamily="18" charset="0"/>
                <a:cs typeface="Times New Roman" panose="02020603050405020304" pitchFamily="18" charset="0"/>
              </a:rPr>
              <a:t>Deployment:</a:t>
            </a:r>
            <a:endParaRPr lang="en-IN" sz="2000" dirty="0">
              <a:latin typeface="Times New Roman" panose="02020603050405020304" pitchFamily="18" charset="0"/>
              <a:cs typeface="Times New Roman" panose="02020603050405020304" pitchFamily="18" charset="0"/>
            </a:endParaRPr>
          </a:p>
          <a:p>
            <a:pPr marL="629920" lvl="1" indent="-305435">
              <a:spcBef>
                <a:spcPct val="20000"/>
              </a:spcBef>
              <a:spcAft>
                <a:spcPts val="600"/>
              </a:spcAft>
              <a:buFont typeface="Arial" panose="020B0604020202020204"/>
              <a:buChar char="•"/>
            </a:pPr>
            <a:r>
              <a:rPr lang="en-IN" sz="2000" dirty="0">
                <a:latin typeface="Times New Roman" panose="02020603050405020304" pitchFamily="18" charset="0"/>
                <a:cs typeface="Times New Roman" panose="02020603050405020304" pitchFamily="18" charset="0"/>
              </a:rPr>
              <a:t>Published to Power BI Service (app.powerbi.com). Navigation buttons, Region slicer, Migration_Type slicer on all 5 pages. Drill-through to State Detail page. Public embed link generated. GitHub repo with 6 CSV datasets, PBIX file, README and PPTX uploaded.</a:t>
            </a:r>
            <a:endParaRPr lang="en-GB"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191" y="603250"/>
            <a:ext cx="10515600" cy="1325563"/>
          </a:xfrm>
        </p:spPr>
        <p:txBody>
          <a:bodyPr lIns="91440" tIns="45720" rIns="91440" bIns="45720" anchor="t">
            <a:normAutofit/>
          </a:bodyPr>
          <a:lstStyle/>
          <a:p>
            <a:r>
              <a:rPr lang="en-US" sz="4000" b="1" cap="all" dirty="0">
                <a:latin typeface="Arial"/>
              </a:rPr>
              <a:t>Result: Key Dashboard Insights</a:t>
            </a:r>
            <a:endParaRPr lang="en-US" sz="4000" dirty="0"/>
          </a:p>
        </p:txBody>
      </p:sp>
      <p:sp>
        <p:nvSpPr>
          <p:cNvPr id="3" name="Content Placeholder 2"/>
          <p:cNvSpPr>
            <a:spLocks noGrp="1"/>
          </p:cNvSpPr>
          <p:nvPr>
            <p:ph idx="1"/>
          </p:nvPr>
        </p:nvSpPr>
        <p:spPr>
          <a:xfrm>
            <a:off x="147145" y="1250730"/>
            <a:ext cx="11761076" cy="5202622"/>
          </a:xfrm>
        </p:spPr>
        <p:txBody>
          <a:bodyPr vert="horz" lIns="91440" tIns="45720" rIns="91440" bIns="45720" rtlCol="0">
            <a:noAutofit/>
          </a:bodyPr>
          <a:lstStyle/>
          <a:p>
            <a:pPr>
              <a:lnSpc>
                <a:spcPct val="100000"/>
              </a:lnSpc>
            </a:pPr>
            <a:r>
              <a:rPr lang="en-US" sz="1800" b="1" dirty="0">
                <a:latin typeface="Times New Roman" panose="02020603050405020304" pitchFamily="18" charset="0"/>
                <a:cs typeface="Times New Roman" panose="02020603050405020304" pitchFamily="18" charset="0"/>
              </a:rPr>
              <a:t>Highest MPI State: Bihar — Score 82 (Critical)</a:t>
            </a:r>
          </a:p>
          <a:p>
            <a:pPr>
              <a:lnSpc>
                <a:spcPct val="100000"/>
              </a:lnSpc>
            </a:pPr>
            <a:r>
              <a:rPr lang="en-US" sz="1800" dirty="0">
                <a:latin typeface="Times New Roman" panose="02020603050405020304" pitchFamily="18" charset="0"/>
                <a:cs typeface="Times New Roman" panose="02020603050405020304" pitchFamily="18" charset="0"/>
              </a:rPr>
              <a:t>74.2% out-migration rate | 16.4% unemployment | Rs.250 average daily wage | Eastern India high-pressure zone</a:t>
            </a:r>
          </a:p>
          <a:p>
            <a:pPr>
              <a:lnSpc>
                <a:spcPct val="100000"/>
              </a:lnSpc>
            </a:pPr>
            <a:r>
              <a:rPr lang="en-US" sz="1800" b="1" dirty="0">
                <a:latin typeface="Times New Roman" panose="02020603050405020304" pitchFamily="18" charset="0"/>
                <a:cs typeface="Times New Roman" panose="02020603050405020304" pitchFamily="18" charset="0"/>
              </a:rPr>
              <a:t>Lowest MPI State: Delhi — Score 22 (Minimal)</a:t>
            </a:r>
          </a:p>
          <a:p>
            <a:pPr>
              <a:lnSpc>
                <a:spcPct val="100000"/>
              </a:lnSpc>
            </a:pPr>
            <a:r>
              <a:rPr lang="en-US" sz="1800" dirty="0">
                <a:latin typeface="Times New Roman" panose="02020603050405020304" pitchFamily="18" charset="0"/>
                <a:cs typeface="Times New Roman" panose="02020603050405020304" pitchFamily="18" charset="0"/>
              </a:rPr>
              <a:t>68.4% in-migration rate | Rs.650 daily wage | Rs.1,98,400 urban GDP per capita | Best infrastructure index 88</a:t>
            </a:r>
          </a:p>
          <a:p>
            <a:pPr>
              <a:lnSpc>
                <a:spcPct val="100000"/>
              </a:lnSpc>
            </a:pPr>
            <a:r>
              <a:rPr lang="en-US" sz="1800" b="1" dirty="0">
                <a:latin typeface="Times New Roman" panose="02020603050405020304" pitchFamily="18" charset="0"/>
                <a:cs typeface="Times New Roman" panose="02020603050405020304" pitchFamily="18" charset="0"/>
              </a:rPr>
              <a:t>Largest Migration Corridor: UP to Delhi — 57 Lakh Migrants</a:t>
            </a:r>
          </a:p>
          <a:p>
            <a:pPr>
              <a:lnSpc>
                <a:spcPct val="100000"/>
              </a:lnSpc>
            </a:pPr>
            <a:r>
              <a:rPr lang="en-US" sz="1800" dirty="0">
                <a:latin typeface="Times New Roman" panose="02020603050405020304" pitchFamily="18" charset="0"/>
                <a:cs typeface="Times New Roman" panose="02020603050405020304" pitchFamily="18" charset="0"/>
              </a:rPr>
              <a:t>Bihar to Delhi: 47 Lakhs | Bihar to Maharashtra: 37 Lakhs | Total tracked flows: 398.8 Lakhs across all corridors</a:t>
            </a:r>
          </a:p>
          <a:p>
            <a:pPr>
              <a:lnSpc>
                <a:spcPct val="100000"/>
              </a:lnSpc>
            </a:pPr>
            <a:r>
              <a:rPr lang="en-US" sz="1800" b="1" dirty="0">
                <a:latin typeface="Times New Roman" panose="02020603050405020304" pitchFamily="18" charset="0"/>
                <a:cs typeface="Times New Roman" panose="02020603050405020304" pitchFamily="18" charset="0"/>
              </a:rPr>
              <a:t>Wage Gap = #1 Driver of Migration (2.6x difference)</a:t>
            </a:r>
          </a:p>
          <a:p>
            <a:pPr>
              <a:lnSpc>
                <a:spcPct val="100000"/>
              </a:lnSpc>
            </a:pPr>
            <a:r>
              <a:rPr lang="en-US" sz="1800" dirty="0">
                <a:latin typeface="Times New Roman" panose="02020603050405020304" pitchFamily="18" charset="0"/>
                <a:cs typeface="Times New Roman" panose="02020603050405020304" pitchFamily="18" charset="0"/>
              </a:rPr>
              <a:t>Scatter plot confirms strong negative correlation: lower wage = higher MPI. Wage gap stronger predictor than unemployment or poverty alone.</a:t>
            </a:r>
          </a:p>
          <a:p>
            <a:pPr>
              <a:lnSpc>
                <a:spcPct val="100000"/>
              </a:lnSpc>
            </a:pPr>
            <a:r>
              <a:rPr lang="en-US" sz="1800" b="1" dirty="0">
                <a:latin typeface="Times New Roman" panose="02020603050405020304" pitchFamily="18" charset="0"/>
                <a:cs typeface="Times New Roman" panose="02020603050405020304" pitchFamily="18" charset="0"/>
              </a:rPr>
              <a:t>The Aspiration Paradox: MPI fell -5.63 pts yet migration GREW +44.9%</a:t>
            </a:r>
          </a:p>
          <a:p>
            <a:pPr>
              <a:lnSpc>
                <a:spcPct val="100000"/>
              </a:lnSpc>
            </a:pPr>
            <a:r>
              <a:rPr lang="en-US" sz="1800" dirty="0">
                <a:latin typeface="Times New Roman" panose="02020603050405020304" pitchFamily="18" charset="0"/>
                <a:cs typeface="Times New Roman" panose="02020603050405020304" pitchFamily="18" charset="0"/>
              </a:rPr>
              <a:t>Bihar MPI fell from 89 (2001) to 82 (2011) — yet out-migration rose sharply. Structural wage gap persists even when living conditions improve slightly.</a:t>
            </a:r>
          </a:p>
          <a:p>
            <a:pPr>
              <a:lnSpc>
                <a:spcPct val="100000"/>
              </a:lnSpc>
            </a:pPr>
            <a:r>
              <a:rPr lang="en-US" sz="1800" dirty="0">
                <a:latin typeface="Times New Roman" panose="02020603050405020304" pitchFamily="18" charset="0"/>
                <a:cs typeface="Times New Roman" panose="02020603050405020304" pitchFamily="18" charset="0"/>
              </a:rPr>
              <a:t>Dashboard Link: [Your Power BI Service Link] | GitHub: [Your GitHub Link]</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D2FC131-1A71-8915-A0B8-7FFAE1355FB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55CFA2-E0ED-F403-FFB8-01CA836F9869}"/>
              </a:ext>
            </a:extLst>
          </p:cNvPr>
          <p:cNvSpPr>
            <a:spLocks noGrp="1"/>
          </p:cNvSpPr>
          <p:nvPr>
            <p:ph type="title"/>
          </p:nvPr>
        </p:nvSpPr>
        <p:spPr>
          <a:xfrm>
            <a:off x="-1191" y="603250"/>
            <a:ext cx="10515600" cy="1325563"/>
          </a:xfrm>
        </p:spPr>
        <p:txBody>
          <a:bodyPr lIns="91440" tIns="45720" rIns="91440" bIns="45720" anchor="t">
            <a:normAutofit/>
          </a:bodyPr>
          <a:lstStyle/>
          <a:p>
            <a:r>
              <a:rPr lang="en-US" sz="4000" b="1" cap="all" dirty="0">
                <a:latin typeface="Arial"/>
                <a:cs typeface="Arial"/>
              </a:rPr>
              <a:t>Data Architecture &amp; Model:</a:t>
            </a:r>
            <a:endParaRPr lang="en-US" sz="4000" dirty="0"/>
          </a:p>
        </p:txBody>
      </p:sp>
      <p:sp>
        <p:nvSpPr>
          <p:cNvPr id="3" name="Content Placeholder 2">
            <a:extLst>
              <a:ext uri="{FF2B5EF4-FFF2-40B4-BE49-F238E27FC236}">
                <a16:creationId xmlns:a16="http://schemas.microsoft.com/office/drawing/2014/main" id="{C2C72EF5-CE46-92D3-8F06-9D7819AF2259}"/>
              </a:ext>
            </a:extLst>
          </p:cNvPr>
          <p:cNvSpPr>
            <a:spLocks noGrp="1"/>
          </p:cNvSpPr>
          <p:nvPr>
            <p:ph idx="1"/>
          </p:nvPr>
        </p:nvSpPr>
        <p:spPr>
          <a:xfrm>
            <a:off x="147145" y="1166648"/>
            <a:ext cx="11761076" cy="5286704"/>
          </a:xfrm>
        </p:spPr>
        <p:txBody>
          <a:bodyPr vert="horz" lIns="91440" tIns="45720" rIns="91440" bIns="45720" rtlCol="0">
            <a:noAutofit/>
          </a:bodyPr>
          <a:lstStyle/>
          <a:p>
            <a:pPr>
              <a:lnSpc>
                <a:spcPct val="100000"/>
              </a:lnSpc>
            </a:pPr>
            <a:r>
              <a:rPr lang="en-US" sz="2000" b="1" dirty="0">
                <a:latin typeface="Times New Roman" panose="02020603050405020304" pitchFamily="18" charset="0"/>
                <a:cs typeface="Times New Roman" panose="02020603050405020304" pitchFamily="18" charset="0"/>
              </a:rPr>
              <a:t>Data Model:</a:t>
            </a:r>
            <a:r>
              <a:rPr lang="en-US" sz="2000" dirty="0">
                <a:latin typeface="Times New Roman" panose="02020603050405020304" pitchFamily="18" charset="0"/>
                <a:cs typeface="Times New Roman" panose="02020603050405020304" pitchFamily="18" charset="0"/>
              </a:rPr>
              <a:t> Star Schema with 6 interlinked tables. MigrationIndex is the central fact table linked to all 5 dimension tables via the State column using Many-to-One relationships.
</a:t>
            </a:r>
            <a:r>
              <a:rPr lang="en-US" sz="2000" b="1" dirty="0">
                <a:latin typeface="Times New Roman" panose="02020603050405020304" pitchFamily="18" charset="0"/>
                <a:cs typeface="Times New Roman" panose="02020603050405020304" pitchFamily="18" charset="0"/>
              </a:rPr>
              <a:t>Table 1 — MigrationIndex (Central Fact Table): </a:t>
            </a:r>
            <a:r>
              <a:rPr lang="en-US" sz="2000" dirty="0">
                <a:latin typeface="Times New Roman" panose="02020603050405020304" pitchFamily="18" charset="0"/>
                <a:cs typeface="Times New Roman" panose="02020603050405020304" pitchFamily="18" charset="0"/>
              </a:rPr>
              <a:t>State, Region, MPI_Score, Migration_Type, Unemployment_Rate, Rural_Poverty_Ratio, Literacy_Rate, Avg_Daily_Wage, Out_Migration_Rate, In_Migration_Rate, migrants, Infrastructure_Index, Drought_Frequency.
</a:t>
            </a:r>
            <a:r>
              <a:rPr lang="en-US" sz="2000" b="1" dirty="0">
                <a:latin typeface="Times New Roman" panose="02020603050405020304" pitchFamily="18" charset="0"/>
                <a:cs typeface="Times New Roman" panose="02020603050405020304" pitchFamily="18" charset="0"/>
              </a:rPr>
              <a:t>Table 2 — MigrationFlows:</a:t>
            </a:r>
            <a:r>
              <a:rPr lang="en-US" sz="2000" dirty="0">
                <a:latin typeface="Times New Roman" panose="02020603050405020304" pitchFamily="18" charset="0"/>
                <a:cs typeface="Times New Roman" panose="02020603050405020304" pitchFamily="18" charset="0"/>
              </a:rPr>
              <a:t> Source_State, Destination_State, Migrants_Lakhs, Year, Primary_Reason, Male_Migrants, Female_Migrants, Corridor (calculated column).
</a:t>
            </a:r>
            <a:r>
              <a:rPr lang="en-US" sz="2000" b="1" dirty="0">
                <a:latin typeface="Times New Roman" panose="02020603050405020304" pitchFamily="18" charset="0"/>
                <a:cs typeface="Times New Roman" panose="02020603050405020304" pitchFamily="18" charset="0"/>
              </a:rPr>
              <a:t>Table 3 — PushFactors:</a:t>
            </a:r>
            <a:r>
              <a:rPr lang="en-US" sz="2000" dirty="0">
                <a:latin typeface="Times New Roman" panose="02020603050405020304" pitchFamily="18" charset="0"/>
                <a:cs typeface="Times New Roman" panose="02020603050405020304" pitchFamily="18" charset="0"/>
              </a:rPr>
              <a:t> State, Year, Unemployment_Rate_Pct, Rural_Poverty_Pct, Literacy_Rate_Pct, Avg_Daily_Wage_INR, NREGA_Dependency_Pct, Push_Score_Normalized.
</a:t>
            </a:r>
            <a:r>
              <a:rPr lang="en-US" sz="2000" b="1" dirty="0">
                <a:latin typeface="Times New Roman" panose="02020603050405020304" pitchFamily="18" charset="0"/>
                <a:cs typeface="Times New Roman" panose="02020603050405020304" pitchFamily="18" charset="0"/>
              </a:rPr>
              <a:t>Table 4 — PullFactors:</a:t>
            </a:r>
            <a:r>
              <a:rPr lang="en-US" sz="2000" dirty="0">
                <a:latin typeface="Times New Roman" panose="02020603050405020304" pitchFamily="18" charset="0"/>
                <a:cs typeface="Times New Roman" panose="02020603050405020304" pitchFamily="18" charset="0"/>
              </a:rPr>
              <a:t> State, Urban_GDP_PerCapita_INR, Infrastructure_Index, In_Migration_Rate, Pull_Score_Normalized, Hospital_Beds_Per1000, Internet_Access_Pct.
</a:t>
            </a:r>
            <a:r>
              <a:rPr lang="en-US" sz="2000" b="1" dirty="0">
                <a:latin typeface="Times New Roman" panose="02020603050405020304" pitchFamily="18" charset="0"/>
                <a:cs typeface="Times New Roman" panose="02020603050405020304" pitchFamily="18" charset="0"/>
              </a:rPr>
              <a:t>Table 5 — MigrationReasons: </a:t>
            </a:r>
            <a:r>
              <a:rPr lang="en-US" sz="2000" dirty="0">
                <a:latin typeface="Times New Roman" panose="02020603050405020304" pitchFamily="18" charset="0"/>
                <a:cs typeface="Times New Roman" panose="02020603050405020304" pitchFamily="18" charset="0"/>
              </a:rPr>
              <a:t>State, Employment_Pct, Marriage_Pct, Education_Pct, Family_Pct, Disaster_Pct, Total_Migrants_Lakhs.
</a:t>
            </a:r>
            <a:r>
              <a:rPr lang="en-US" sz="2000" b="1" dirty="0">
                <a:latin typeface="Times New Roman" panose="02020603050405020304" pitchFamily="18" charset="0"/>
                <a:cs typeface="Times New Roman" panose="02020603050405020304" pitchFamily="18" charset="0"/>
              </a:rPr>
              <a:t>Table 6 — TrendData: </a:t>
            </a:r>
            <a:r>
              <a:rPr lang="en-US" sz="2000" dirty="0">
                <a:latin typeface="Times New Roman" panose="02020603050405020304" pitchFamily="18" charset="0"/>
                <a:cs typeface="Times New Roman" panose="02020603050405020304" pitchFamily="18" charset="0"/>
              </a:rPr>
              <a:t>State, MPI_2001, MPI_2011, MPI_Change, OutMigration_2001_Lakhs, OutMigration_2011_Lakhs, Migration_Growth_Pct, Wage_2001, Wage_2011.</a:t>
            </a:r>
          </a:p>
        </p:txBody>
      </p:sp>
    </p:spTree>
    <p:extLst>
      <p:ext uri="{BB962C8B-B14F-4D97-AF65-F5344CB8AC3E}">
        <p14:creationId xmlns:p14="http://schemas.microsoft.com/office/powerpoint/2010/main" val="12527147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a:xfrm>
            <a:off x="-1191" y="603250"/>
            <a:ext cx="10515600" cy="900000"/>
          </a:xfrm>
        </p:spPr>
        <p:txBody>
          <a:bodyPr lIns="91440" tIns="45720" rIns="91440" bIns="45720" anchor="t">
            <a:normAutofit/>
          </a:bodyPr>
          <a:lstStyle/>
          <a:p>
            <a:r>
              <a:rPr lang="en-US" sz="3600" b="1" cap="all" dirty="0">
                <a:latin typeface="Arial"/>
              </a:rPr>
              <a:t>Result: Page 1 — National MPI Overview</a:t>
            </a:r>
          </a:p>
        </p:txBody>
      </p:sp>
      <p:sp>
        <p:nvSpPr>
          <p:cNvPr id="3" name="Caption"/>
          <p:cNvSpPr/>
          <p:nvPr/>
        </p:nvSpPr>
        <p:spPr>
          <a:xfrm>
            <a:off x="369668" y="1129586"/>
            <a:ext cx="10515600" cy="600000"/>
          </a:xfrm>
        </p:spPr>
        <p:txBody>
          <a:bodyPr lIns="91440" tIns="45720" rIns="91440" bIns="45720">
            <a:normAutofit/>
          </a:bodyPr>
          <a:lstStyle/>
          <a:p>
            <a:r>
              <a:rPr lang="en-US" sz="1400" b="1" dirty="0">
                <a:latin typeface="Times New Roman" panose="02020603050405020304" pitchFamily="18" charset="0"/>
                <a:cs typeface="Times New Roman" panose="02020603050405020304" pitchFamily="18" charset="0"/>
              </a:rPr>
              <a:t>Filled map of India colored by MPI score (red=Critical, green=Minimal) | Avg MPI: 49.57 | Total Migrants: 16.70 Crore | Avg Unemployment: 7.40% | Wage Gap Ratio: 3.10x | Bihar tops with MPI 82, Delhi lowest at 22</a:t>
            </a:r>
          </a:p>
        </p:txBody>
      </p:sp>
      <p:pic>
        <p:nvPicPr>
          <p:cNvPr id="100" name="Img_overview"/>
          <p:cNvPicPr>
            <a:picLocks noChangeAspect="1"/>
          </p:cNvPicPr>
          <p:nvPr/>
        </p:nvPicPr>
        <p:blipFill>
          <a:blip r:embed="rId2"/>
          <a:stretch>
            <a:fillRect/>
          </a:stretch>
        </p:blipFill>
        <p:spPr>
          <a:xfrm>
            <a:off x="240192" y="1729586"/>
            <a:ext cx="11711615" cy="493947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a:xfrm>
            <a:off x="-1191" y="603250"/>
            <a:ext cx="10515600" cy="900000"/>
          </a:xfrm>
        </p:spPr>
        <p:txBody>
          <a:bodyPr lIns="91440" tIns="45720" rIns="91440" bIns="45720" anchor="t">
            <a:normAutofit fontScale="90000"/>
          </a:bodyPr>
          <a:lstStyle/>
          <a:p>
            <a:r>
              <a:rPr lang="en-US" sz="3600" b="1" cap="all" dirty="0">
                <a:latin typeface="Arial"/>
              </a:rPr>
              <a:t>Result: Pages 2 &amp; 3 — Push &amp; Pull Factors</a:t>
            </a:r>
          </a:p>
        </p:txBody>
      </p:sp>
      <p:sp>
        <p:nvSpPr>
          <p:cNvPr id="3" name="Caption"/>
          <p:cNvSpPr/>
          <p:nvPr/>
        </p:nvSpPr>
        <p:spPr>
          <a:xfrm>
            <a:off x="581311" y="1082363"/>
            <a:ext cx="10515600" cy="600000"/>
          </a:xfrm>
        </p:spPr>
        <p:txBody>
          <a:bodyPr lIns="91440" tIns="45720" rIns="91440" bIns="45720">
            <a:normAutofit/>
          </a:bodyPr>
          <a:lstStyle/>
          <a:p>
            <a:r>
              <a:rPr lang="en-US" sz="1600" b="1" dirty="0">
                <a:latin typeface="Times New Roman" panose="02020603050405020304" pitchFamily="18" charset="0"/>
                <a:cs typeface="Times New Roman" panose="02020603050405020304" pitchFamily="18" charset="0"/>
              </a:rPr>
              <a:t>Push Factors (left): Bihar highest unemployment 16.4%, Jharkhand highest poverty 36.9%, Manipur lowest wage Rs.220 | Pull Factors (right): Delhi 68.4% in-migration, Goa highest wage Rs.680, Delhi best infrastructure score 88</a:t>
            </a:r>
          </a:p>
        </p:txBody>
      </p:sp>
      <p:pic>
        <p:nvPicPr>
          <p:cNvPr id="100" name="Img_push"/>
          <p:cNvPicPr>
            <a:picLocks noChangeAspect="1"/>
          </p:cNvPicPr>
          <p:nvPr/>
        </p:nvPicPr>
        <p:blipFill>
          <a:blip r:embed="rId2"/>
          <a:stretch>
            <a:fillRect/>
          </a:stretch>
        </p:blipFill>
        <p:spPr>
          <a:xfrm>
            <a:off x="224600" y="1861476"/>
            <a:ext cx="5776690" cy="4538828"/>
          </a:xfrm>
          <a:prstGeom prst="rect">
            <a:avLst/>
          </a:prstGeom>
        </p:spPr>
      </p:pic>
      <p:pic>
        <p:nvPicPr>
          <p:cNvPr id="101" name="Img_pull"/>
          <p:cNvPicPr>
            <a:picLocks noChangeAspect="1"/>
          </p:cNvPicPr>
          <p:nvPr/>
        </p:nvPicPr>
        <p:blipFill>
          <a:blip r:embed="rId3"/>
          <a:stretch>
            <a:fillRect/>
          </a:stretch>
        </p:blipFill>
        <p:spPr>
          <a:xfrm>
            <a:off x="6096000" y="1861476"/>
            <a:ext cx="5776690" cy="4538828"/>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a:xfrm>
            <a:off x="-1191" y="603250"/>
            <a:ext cx="11919922" cy="900000"/>
          </a:xfrm>
        </p:spPr>
        <p:txBody>
          <a:bodyPr lIns="91440" tIns="45720" rIns="91440" bIns="45720" anchor="t">
            <a:noAutofit/>
          </a:bodyPr>
          <a:lstStyle/>
          <a:p>
            <a:r>
              <a:rPr lang="en-US" sz="3200" b="1" cap="all" dirty="0">
                <a:latin typeface="Arial"/>
              </a:rPr>
              <a:t>Result: Pages 4 &amp; 5 — Migration Flows &amp; Trends</a:t>
            </a:r>
          </a:p>
        </p:txBody>
      </p:sp>
      <p:sp>
        <p:nvSpPr>
          <p:cNvPr id="3" name="Caption"/>
          <p:cNvSpPr/>
          <p:nvPr/>
        </p:nvSpPr>
        <p:spPr>
          <a:xfrm>
            <a:off x="570800" y="1053250"/>
            <a:ext cx="10515600" cy="600000"/>
          </a:xfrm>
        </p:spPr>
        <p:txBody>
          <a:bodyPr lIns="91440" tIns="45720" rIns="91440" bIns="45720">
            <a:normAutofit/>
          </a:bodyPr>
          <a:lstStyle/>
          <a:p>
            <a:r>
              <a:rPr lang="en-US" sz="1600" b="1" dirty="0">
                <a:latin typeface="Times New Roman" panose="02020603050405020304" pitchFamily="18" charset="0"/>
                <a:cs typeface="Times New Roman" panose="02020603050405020304" pitchFamily="18" charset="0"/>
              </a:rPr>
              <a:t>Migration Flows (left): UP to Delhi 57L is #1 corridor, Bihar to Delhi 47L #2, total 398.8 Lakhs tracked | Trends (right): Avg MPI fell 58.32 to 52.68 (-5.63 pts) yet migration GREW +44.9% — wage gap persists</a:t>
            </a:r>
          </a:p>
        </p:txBody>
      </p:sp>
      <p:pic>
        <p:nvPicPr>
          <p:cNvPr id="100" name="Img_flows"/>
          <p:cNvPicPr>
            <a:picLocks noChangeAspect="1"/>
          </p:cNvPicPr>
          <p:nvPr/>
        </p:nvPicPr>
        <p:blipFill>
          <a:blip r:embed="rId2"/>
          <a:stretch>
            <a:fillRect/>
          </a:stretch>
        </p:blipFill>
        <p:spPr>
          <a:xfrm>
            <a:off x="228600" y="1817933"/>
            <a:ext cx="5818731" cy="4571860"/>
          </a:xfrm>
          <a:prstGeom prst="rect">
            <a:avLst/>
          </a:prstGeom>
        </p:spPr>
      </p:pic>
      <p:pic>
        <p:nvPicPr>
          <p:cNvPr id="101" name="Img_trends"/>
          <p:cNvPicPr>
            <a:picLocks noChangeAspect="1"/>
          </p:cNvPicPr>
          <p:nvPr/>
        </p:nvPicPr>
        <p:blipFill>
          <a:blip r:embed="rId3"/>
          <a:stretch>
            <a:fillRect/>
          </a:stretch>
        </p:blipFill>
        <p:spPr>
          <a:xfrm>
            <a:off x="6100000" y="1817933"/>
            <a:ext cx="5818731" cy="457186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48" y="606334"/>
            <a:ext cx="10515600" cy="1325563"/>
          </a:xfrm>
        </p:spPr>
        <p:txBody>
          <a:bodyPr lIns="91440" tIns="45720" rIns="91440" bIns="45720" anchor="t">
            <a:normAutofit/>
          </a:bodyPr>
          <a:lstStyle/>
          <a:p>
            <a:r>
              <a:rPr lang="en-US" sz="4000" b="1" cap="all">
                <a:latin typeface="Arial" panose="020B0604020202020204"/>
                <a:cs typeface="Arial" panose="020B0604020202020204"/>
              </a:rPr>
              <a:t>Conclusion:</a:t>
            </a:r>
            <a:endParaRPr lang="en-US" sz="4000" dirty="0"/>
          </a:p>
        </p:txBody>
      </p:sp>
      <p:sp>
        <p:nvSpPr>
          <p:cNvPr id="3" name="Content Placeholder 2"/>
          <p:cNvSpPr>
            <a:spLocks noGrp="1"/>
          </p:cNvSpPr>
          <p:nvPr>
            <p:ph idx="1"/>
          </p:nvPr>
        </p:nvSpPr>
        <p:spPr>
          <a:xfrm>
            <a:off x="262588" y="1513490"/>
            <a:ext cx="11572059" cy="4738175"/>
          </a:xfrm>
        </p:spPr>
        <p:txBody>
          <a:bodyPr vert="horz" lIns="91440" tIns="45720" rIns="91440" bIns="45720" rtlCol="0">
            <a:normAutofit fontScale="92500" lnSpcReduction="10000"/>
          </a:bodyPr>
          <a:lstStyle/>
          <a:p>
            <a:pPr marL="0" indent="0" algn="just">
              <a:buNone/>
            </a:pPr>
            <a:r>
              <a:rPr lang="en-IN" dirty="0">
                <a:latin typeface="Times New Roman" panose="02020603050405020304" pitchFamily="18" charset="0"/>
                <a:cs typeface="Times New Roman" panose="02020603050405020304" pitchFamily="18" charset="0"/>
              </a:rPr>
              <a:t>The Migration Pressure Index Dashboard is the first open-data composite indicator combining 6 push and pull factors across 30 Indian states in a single interactive Power BI report — directly actionable for NITI Aayog and the Ministry of Labour.
Key findings: Bihar (MPI 82), Jharkhand (MPI 79), UP (MPI 76) are the highest-pressure source states. Delhi (MPI 22), Goa (MPI 18), Maharashtra (MPI 26) are dominant destinations.
The wage gap (2.6x between Bihar and Delhi) is a stronger predictor of migration than unemployment or poverty alone. Marginal MPI improvements fail to suppress aspirational migration — wage parity and job creation in source states must be targeted directly.</a:t>
            </a:r>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48" y="606334"/>
            <a:ext cx="10515600" cy="1325563"/>
          </a:xfrm>
        </p:spPr>
        <p:txBody>
          <a:bodyPr lIns="91440" tIns="45720" rIns="91440" bIns="45720" anchor="t">
            <a:normAutofit/>
          </a:bodyPr>
          <a:lstStyle/>
          <a:p>
            <a:r>
              <a:rPr lang="en-US" sz="4000" b="1" cap="all">
                <a:latin typeface="Arial" panose="020B0604020202020204"/>
                <a:cs typeface="Arial" panose="020B0604020202020204"/>
              </a:rPr>
              <a:t>Future scope:</a:t>
            </a:r>
            <a:endParaRPr lang="en-US" sz="4000" dirty="0"/>
          </a:p>
        </p:txBody>
      </p:sp>
      <p:sp>
        <p:nvSpPr>
          <p:cNvPr id="3" name="Content Placeholder 2"/>
          <p:cNvSpPr>
            <a:spLocks noGrp="1"/>
          </p:cNvSpPr>
          <p:nvPr>
            <p:ph idx="1"/>
          </p:nvPr>
        </p:nvSpPr>
        <p:spPr>
          <a:xfrm>
            <a:off x="268070" y="1304434"/>
            <a:ext cx="11703213" cy="5327594"/>
          </a:xfrm>
        </p:spPr>
        <p:txBody>
          <a:bodyPr vert="horz" lIns="91440" tIns="45720" rIns="91440" bIns="45720" rtlCol="0">
            <a:normAutofit/>
          </a:bodyPr>
          <a:lstStyle/>
          <a:p>
            <a:pPr algn="just">
              <a:spcBef>
                <a:spcPct val="20000"/>
              </a:spcBef>
              <a:spcAft>
                <a:spcPts val="600"/>
              </a:spcAft>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District-level granularity: Extend MPI to district level using NSSO data for more precise policy targeting within states.
Real-time data integration: Connect to live CMIE and PLFS APIs for auto-refresh of unemployment and wage data monthly.
Climate-migration layer: Add drought index, flood frequency, and crop failure data to quantify climate-driven displacement.
Azure ML Predictive Model: Forecast future MPI scores based on economic policy scenarios using Azure Machine Learning.
What-If Policy Simulator: Add Power BI What-If parameters to simulate impact of wage increases or job creation on MPI scores in real time.
Mobile layout and multi-country expansion: Adapt the MPI framework for South Asian migration corridors (India-Bangladesh, India-Nepal).</a:t>
            </a:r>
            <a:endParaRPr lang="en-GB" sz="2400" dirty="0">
              <a:latin typeface="Times New Roman" panose="02020603050405020304" pitchFamily="18" charset="0"/>
              <a:cs typeface="Times New Roman" panose="02020603050405020304" pitchFamily="18" charset="0"/>
            </a:endParaRPr>
          </a:p>
          <a:p>
            <a:pPr>
              <a:buFont typeface="Wingdings" panose="05000000000000000000" pitchFamily="2" charset="2"/>
              <a:buChar char="v"/>
            </a:pPr>
            <a:endParaRPr lang="en-GB"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48" y="606334"/>
            <a:ext cx="10515600" cy="1325563"/>
          </a:xfrm>
        </p:spPr>
        <p:txBody>
          <a:bodyPr lIns="91440" tIns="45720" rIns="91440" bIns="45720" anchor="t">
            <a:normAutofit/>
          </a:bodyPr>
          <a:lstStyle/>
          <a:p>
            <a:r>
              <a:rPr lang="en-US" sz="4000" b="1" cap="all">
                <a:latin typeface="Arial" panose="020B0604020202020204"/>
                <a:cs typeface="Arial" panose="020B0604020202020204"/>
              </a:rPr>
              <a:t>References:</a:t>
            </a:r>
            <a:endParaRPr lang="en-US" sz="4000"/>
          </a:p>
        </p:txBody>
      </p:sp>
      <p:sp>
        <p:nvSpPr>
          <p:cNvPr id="3" name="Content Placeholder 2"/>
          <p:cNvSpPr>
            <a:spLocks noGrp="1"/>
          </p:cNvSpPr>
          <p:nvPr>
            <p:ph idx="1"/>
          </p:nvPr>
        </p:nvSpPr>
        <p:spPr>
          <a:xfrm>
            <a:off x="196803" y="1229710"/>
            <a:ext cx="11732437" cy="5381297"/>
          </a:xfrm>
        </p:spPr>
        <p:txBody>
          <a:bodyPr vert="horz" lIns="91440" tIns="45720" rIns="91440" bIns="45720" rtlCol="0" anchor="t">
            <a:normAutofit fontScale="92500" lnSpcReduction="20000"/>
          </a:bodyPr>
          <a:lstStyle/>
          <a:p>
            <a:pPr marL="0" indent="0">
              <a:lnSpc>
                <a:spcPct val="110000"/>
              </a:lnSpc>
              <a:buNone/>
            </a:pPr>
            <a:r>
              <a:rPr lang="en-IN" sz="2200" dirty="0">
                <a:latin typeface="Times New Roman" panose="02020603050405020304" pitchFamily="18" charset="0"/>
                <a:cs typeface="Times New Roman" panose="02020603050405020304" pitchFamily="18" charset="0"/>
              </a:rPr>
              <a:t>1. Census of India 2011 — D-Series Migration Tables (D-01, D-04, D-07). Office of Registrar General, India. censusindia.gov.in
2. National Data and Analytics Platform (NDAP), NITI Aayog. ndap.niti.gov.in
3. Periodic Labour Force Survey (PLFS) Annual Report 2020-21. Ministry of Statistics and Programme Implementation. mospi.gov.in
4. National Family Health Survey NFHS-5 (2019-21). International Institute for Population Sciences, Mumbai. rchiips.org/</a:t>
            </a:r>
            <a:r>
              <a:rPr lang="en-IN" sz="2200" dirty="0" err="1">
                <a:latin typeface="Times New Roman" panose="02020603050405020304" pitchFamily="18" charset="0"/>
                <a:cs typeface="Times New Roman" panose="02020603050405020304" pitchFamily="18" charset="0"/>
              </a:rPr>
              <a:t>nfhs</a:t>
            </a:r>
            <a:r>
              <a:rPr lang="en-IN" sz="2200" dirty="0">
                <a:latin typeface="Times New Roman" panose="02020603050405020304" pitchFamily="18" charset="0"/>
                <a:cs typeface="Times New Roman" panose="02020603050405020304" pitchFamily="18" charset="0"/>
              </a:rPr>
              <a:t>
5. Centre for Monitoring Indian Economy (CMIE) — State-wise Unemployment and Wage Data. cmie.com
6. Economic Survey 2022-23, Ministry of Finance, Government of India.
7. PRS Legislative Research — Internal Migration in India. prsindia.org
8. Microsoft Power BI Documentation. docs.microsoft.com/power-bi</a:t>
            </a:r>
            <a:endParaRPr lang="en-US" sz="2200" dirty="0">
              <a:latin typeface="Times New Roman" panose="02020603050405020304" pitchFamily="18" charset="0"/>
              <a:cs typeface="Times New Roman" panose="02020603050405020304" pitchFamily="18" charset="0"/>
            </a:endParaRPr>
          </a:p>
          <a:p>
            <a:pPr marL="0" indent="0">
              <a:lnSpc>
                <a:spcPct val="110000"/>
              </a:lnSpc>
              <a:buNone/>
            </a:pPr>
            <a:r>
              <a:rPr lang="en-IN" sz="2200" dirty="0">
                <a:latin typeface="Times New Roman" panose="02020603050405020304" pitchFamily="18" charset="0"/>
                <a:cs typeface="Times New Roman" panose="02020603050405020304" pitchFamily="18" charset="0"/>
              </a:rPr>
              <a:t>GitHub:</a:t>
            </a:r>
            <a:r>
              <a:rPr lang="en-IN" sz="2200" dirty="0">
                <a:solidFill>
                  <a:srgbClr val="0070C0"/>
                </a:solidFill>
                <a:latin typeface="Times New Roman" panose="02020603050405020304" pitchFamily="18" charset="0"/>
                <a:cs typeface="Times New Roman" panose="02020603050405020304" pitchFamily="18" charset="0"/>
              </a:rPr>
              <a:t> </a:t>
            </a:r>
            <a:r>
              <a:rPr lang="en-IN" sz="2200" u="sng" dirty="0">
                <a:solidFill>
                  <a:srgbClr val="0070C0"/>
                </a:solidFill>
                <a:latin typeface="Times New Roman" panose="02020603050405020304" pitchFamily="18" charset="0"/>
                <a:cs typeface="Times New Roman" panose="02020603050405020304" pitchFamily="18" charset="0"/>
              </a:rPr>
              <a:t>[</a:t>
            </a:r>
            <a:r>
              <a:rPr lang="en-IN" sz="2200" u="sng" dirty="0">
                <a:solidFill>
                  <a:srgbClr val="0070C0"/>
                </a:solidFill>
                <a:latin typeface="Times New Roman" panose="02020603050405020304" pitchFamily="18" charset="0"/>
                <a:cs typeface="Times New Roman" panose="02020603050405020304" pitchFamily="18" charset="0"/>
                <a:hlinkClick r:id="rId2"/>
              </a:rPr>
              <a:t>Click Here</a:t>
            </a:r>
            <a:r>
              <a:rPr lang="en-IN" sz="2200" u="sng" dirty="0">
                <a:solidFill>
                  <a:srgbClr val="0070C0"/>
                </a:solidFill>
                <a:latin typeface="Times New Roman" panose="02020603050405020304" pitchFamily="18" charset="0"/>
                <a:cs typeface="Times New Roman" panose="02020603050405020304" pitchFamily="18" charset="0"/>
              </a:rPr>
              <a:t>]</a:t>
            </a:r>
          </a:p>
          <a:p>
            <a:pPr marL="0" indent="0">
              <a:lnSpc>
                <a:spcPct val="110000"/>
              </a:lnSpc>
              <a:buNone/>
            </a:pPr>
            <a:r>
              <a:rPr lang="en-IN" sz="2200" dirty="0">
                <a:latin typeface="Times New Roman" panose="02020603050405020304" pitchFamily="18" charset="0"/>
                <a:cs typeface="Times New Roman" panose="02020603050405020304" pitchFamily="18" charset="0"/>
              </a:rPr>
              <a:t>LinkedIn URL: [</a:t>
            </a:r>
            <a:r>
              <a:rPr lang="en-IN" sz="2200" dirty="0">
                <a:latin typeface="Times New Roman" panose="02020603050405020304" pitchFamily="18" charset="0"/>
                <a:cs typeface="Times New Roman" panose="02020603050405020304" pitchFamily="18" charset="0"/>
                <a:hlinkClick r:id="rId3"/>
              </a:rPr>
              <a:t>Click Here</a:t>
            </a:r>
            <a:r>
              <a:rPr lang="en-IN" sz="2200" dirty="0">
                <a:latin typeface="Times New Roman" panose="02020603050405020304" pitchFamily="18" charset="0"/>
                <a:cs typeface="Times New Roman" panose="02020603050405020304" pitchFamily="18" charset="0"/>
              </a:rPr>
              <a:t>]</a:t>
            </a:r>
          </a:p>
          <a:p>
            <a:pPr marL="0" indent="0">
              <a:lnSpc>
                <a:spcPct val="110000"/>
              </a:lnSpc>
              <a:buNone/>
            </a:pPr>
            <a:r>
              <a:rPr lang="en-IN" sz="2200" dirty="0">
                <a:latin typeface="Times New Roman" panose="02020603050405020304" pitchFamily="18" charset="0"/>
                <a:cs typeface="Times New Roman" panose="02020603050405020304" pitchFamily="18" charset="0"/>
              </a:rPr>
              <a:t>Power BI Project Link: [</a:t>
            </a:r>
            <a:r>
              <a:rPr lang="en-IN" sz="2200" dirty="0">
                <a:latin typeface="Times New Roman" panose="02020603050405020304" pitchFamily="18" charset="0"/>
                <a:cs typeface="Times New Roman" panose="02020603050405020304" pitchFamily="18" charset="0"/>
                <a:hlinkClick r:id="rId4"/>
              </a:rPr>
              <a:t>Click Here</a:t>
            </a:r>
            <a:r>
              <a:rPr lang="en-IN" sz="2200" dirty="0">
                <a:latin typeface="Times New Roman" panose="02020603050405020304" pitchFamily="18" charset="0"/>
                <a:cs typeface="Times New Roman" panose="02020603050405020304" pitchFamily="18" charset="0"/>
              </a:rPr>
              <a:t>]</a:t>
            </a:r>
          </a:p>
          <a:p>
            <a:pPr marL="0" indent="0">
              <a:lnSpc>
                <a:spcPct val="110000"/>
              </a:lnSpc>
              <a:buNone/>
            </a:pPr>
            <a:endParaRPr lang="en-IN" sz="2200" u="sng" dirty="0">
              <a:solidFill>
                <a:srgbClr val="0070C0"/>
              </a:solidFill>
              <a:latin typeface="Times New Roman" panose="02020603050405020304" pitchFamily="18" charset="0"/>
              <a:cs typeface="Times New Roman" panose="02020603050405020304" pitchFamily="18" charset="0"/>
            </a:endParaRPr>
          </a:p>
          <a:p>
            <a:pPr marL="0" indent="0">
              <a:lnSpc>
                <a:spcPct val="110000"/>
              </a:lnSpc>
              <a:buNone/>
            </a:pPr>
            <a:endParaRPr lang="en-IN" sz="22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4"/>
          <p:cNvSpPr txBox="1"/>
          <p:nvPr/>
        </p:nvSpPr>
        <p:spPr>
          <a:xfrm>
            <a:off x="314324" y="6312352"/>
            <a:ext cx="3724275" cy="295275"/>
          </a:xfrm>
          <a:prstGeom prst="rect">
            <a:avLst/>
          </a:prstGeom>
        </p:spPr>
        <p:txBody>
          <a:bodyPr/>
          <a:lstStyle>
            <a:lvl1pPr marL="228600" indent="-228600" algn="l" defTabSz="609600" rtl="0" eaLnBrk="1" latinLnBrk="0" hangingPunct="1">
              <a:spcBef>
                <a:spcPct val="20000"/>
              </a:spcBef>
              <a:buFont typeface="Arial" panose="020B0604020202020204" pitchFamily="34" charset="0"/>
              <a:buChar char="•"/>
              <a:defRPr sz="2135" kern="1200">
                <a:solidFill>
                  <a:schemeClr val="tx1"/>
                </a:solidFill>
                <a:latin typeface="+mn-lt"/>
                <a:ea typeface="+mn-ea"/>
                <a:cs typeface="+mn-cs"/>
              </a:defRPr>
            </a:lvl1pPr>
            <a:lvl2pPr marL="495300" indent="-190500" algn="l" defTabSz="609600" rtl="0" eaLnBrk="1" latinLnBrk="0" hangingPunct="1">
              <a:spcBef>
                <a:spcPct val="20000"/>
              </a:spcBef>
              <a:buFont typeface="Arial" panose="020B0604020202020204" pitchFamily="34" charset="0"/>
              <a:buChar char="–"/>
              <a:defRPr sz="1865" kern="1200">
                <a:solidFill>
                  <a:schemeClr val="tx1"/>
                </a:solidFill>
                <a:latin typeface="+mn-lt"/>
                <a:ea typeface="+mn-ea"/>
                <a:cs typeface="+mn-cs"/>
              </a:defRPr>
            </a:lvl2pPr>
            <a:lvl3pPr marL="762000" indent="-152400" algn="l" defTabSz="609600" rtl="0" eaLnBrk="1" latinLnBrk="0" hangingPunct="1">
              <a:spcBef>
                <a:spcPct val="20000"/>
              </a:spcBef>
              <a:buFont typeface="Arial" panose="020B0604020202020204" pitchFamily="34" charset="0"/>
              <a:buChar char="•"/>
              <a:defRPr sz="1600" kern="1200">
                <a:solidFill>
                  <a:schemeClr val="tx1"/>
                </a:solidFill>
                <a:latin typeface="+mn-lt"/>
                <a:ea typeface="+mn-ea"/>
                <a:cs typeface="+mn-cs"/>
              </a:defRPr>
            </a:lvl3pPr>
            <a:lvl4pPr marL="1066800" indent="-152400" algn="l" defTabSz="609600" rtl="0" eaLnBrk="1" latinLnBrk="0" hangingPunct="1">
              <a:spcBef>
                <a:spcPct val="20000"/>
              </a:spcBef>
              <a:buFont typeface="Arial" panose="020B0604020202020204" pitchFamily="34" charset="0"/>
              <a:buChar char="–"/>
              <a:defRPr sz="1335" kern="1200">
                <a:solidFill>
                  <a:schemeClr val="tx1"/>
                </a:solidFill>
                <a:latin typeface="+mn-lt"/>
                <a:ea typeface="+mn-ea"/>
                <a:cs typeface="+mn-cs"/>
              </a:defRPr>
            </a:lvl4pPr>
            <a:lvl5pPr marL="1371600" indent="-152400" algn="l" defTabSz="609600" rtl="0" eaLnBrk="1" latinLnBrk="0" hangingPunct="1">
              <a:spcBef>
                <a:spcPct val="20000"/>
              </a:spcBef>
              <a:buFont typeface="Arial" panose="020B0604020202020204" pitchFamily="34" charset="0"/>
              <a:buChar char="»"/>
              <a:defRPr sz="1335" kern="1200">
                <a:solidFill>
                  <a:schemeClr val="tx1"/>
                </a:solidFill>
                <a:latin typeface="+mn-lt"/>
                <a:ea typeface="+mn-ea"/>
                <a:cs typeface="+mn-cs"/>
              </a:defRPr>
            </a:lvl5pPr>
            <a:lvl6pPr marL="1676400" indent="-152400" algn="l" defTabSz="609600" rtl="0" eaLnBrk="1" latinLnBrk="0" hangingPunct="1">
              <a:spcBef>
                <a:spcPct val="20000"/>
              </a:spcBef>
              <a:buFont typeface="Arial" panose="020B0604020202020204" pitchFamily="34" charset="0"/>
              <a:buChar char="•"/>
              <a:defRPr sz="1335" kern="1200">
                <a:solidFill>
                  <a:schemeClr val="tx1"/>
                </a:solidFill>
                <a:latin typeface="+mn-lt"/>
                <a:ea typeface="+mn-ea"/>
                <a:cs typeface="+mn-cs"/>
              </a:defRPr>
            </a:lvl6pPr>
            <a:lvl7pPr marL="1981200" indent="-152400" algn="l" defTabSz="609600" rtl="0" eaLnBrk="1" latinLnBrk="0" hangingPunct="1">
              <a:spcBef>
                <a:spcPct val="20000"/>
              </a:spcBef>
              <a:buFont typeface="Arial" panose="020B0604020202020204" pitchFamily="34" charset="0"/>
              <a:buChar char="•"/>
              <a:defRPr sz="1335" kern="1200">
                <a:solidFill>
                  <a:schemeClr val="tx1"/>
                </a:solidFill>
                <a:latin typeface="+mn-lt"/>
                <a:ea typeface="+mn-ea"/>
                <a:cs typeface="+mn-cs"/>
              </a:defRPr>
            </a:lvl7pPr>
            <a:lvl8pPr marL="2286000" indent="-152400" algn="l" defTabSz="609600" rtl="0" eaLnBrk="1" latinLnBrk="0" hangingPunct="1">
              <a:spcBef>
                <a:spcPct val="20000"/>
              </a:spcBef>
              <a:buFont typeface="Arial" panose="020B0604020202020204" pitchFamily="34" charset="0"/>
              <a:buChar char="•"/>
              <a:defRPr sz="1335" kern="1200">
                <a:solidFill>
                  <a:schemeClr val="tx1"/>
                </a:solidFill>
                <a:latin typeface="+mn-lt"/>
                <a:ea typeface="+mn-ea"/>
                <a:cs typeface="+mn-cs"/>
              </a:defRPr>
            </a:lvl8pPr>
            <a:lvl9pPr marL="2590800" indent="-152400" algn="l" defTabSz="609600" rtl="0" eaLnBrk="1" latinLnBrk="0" hangingPunct="1">
              <a:spcBef>
                <a:spcPct val="20000"/>
              </a:spcBef>
              <a:buFont typeface="Arial" panose="020B0604020202020204" pitchFamily="34" charset="0"/>
              <a:buChar char="•"/>
              <a:defRPr sz="1335" kern="1200">
                <a:solidFill>
                  <a:schemeClr val="tx1"/>
                </a:solidFill>
                <a:latin typeface="+mn-lt"/>
                <a:ea typeface="+mn-ea"/>
                <a:cs typeface="+mn-cs"/>
              </a:defRPr>
            </a:lvl9pPr>
          </a:lstStyle>
          <a:p>
            <a:pPr marL="173990" indent="-173990">
              <a:buFont typeface="Arial" panose="020B0604020202020204" pitchFamily="34" charset="0"/>
              <a:buNone/>
            </a:pPr>
            <a:endParaRPr lang="en-US" sz="1400">
              <a:latin typeface="Arial" panose="020B0604020202020204" pitchFamily="34" charset="0"/>
              <a:cs typeface="Arial" panose="020B0604020202020204" pitchFamily="34" charset="0"/>
            </a:endParaRPr>
          </a:p>
        </p:txBody>
      </p:sp>
      <p:sp>
        <p:nvSpPr>
          <p:cNvPr id="2" name="Title 3"/>
          <p:cNvSpPr txBox="1"/>
          <p:nvPr/>
        </p:nvSpPr>
        <p:spPr>
          <a:xfrm>
            <a:off x="3247621" y="3009471"/>
            <a:ext cx="5696757" cy="839057"/>
          </a:xfrm>
          <a:prstGeom prst="rect">
            <a:avLst/>
          </a:prstGeom>
        </p:spPr>
        <p:txBody>
          <a:bodyPr lIns="91440" tIns="45720" rIns="91440" bIns="45720" anchor="t"/>
          <a:lstStyle>
            <a:lvl1pPr algn="ctr" defTabSz="609600" rtl="0" eaLnBrk="1" latinLnBrk="0" hangingPunct="1">
              <a:spcBef>
                <a:spcPct val="0"/>
              </a:spcBef>
              <a:buNone/>
              <a:defRPr sz="2935" kern="1200">
                <a:solidFill>
                  <a:schemeClr val="tx1"/>
                </a:solidFill>
                <a:latin typeface="+mj-lt"/>
                <a:ea typeface="+mj-ea"/>
                <a:cs typeface="+mj-cs"/>
              </a:defRPr>
            </a:lvl1pPr>
          </a:lstStyle>
          <a:p>
            <a:r>
              <a:rPr lang="en-US" sz="4800" b="1">
                <a:solidFill>
                  <a:srgbClr val="002060"/>
                </a:solidFill>
                <a:latin typeface="Arial" panose="020B0604020202020204"/>
                <a:cs typeface="Arial" panose="020B0604020202020204"/>
              </a:rPr>
              <a:t>Thank You</a:t>
            </a:r>
          </a:p>
        </p:txBody>
      </p:sp>
    </p:spTree>
    <p:custDataLst>
      <p:tags r:id="rId1"/>
    </p:custData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DESIGN_ID_1_OFFICE THEME" val="TmdBxN3j"/>
  <p:tag name="ARTICULATE_PROJECT_OPEN" val="0"/>
  <p:tag name="ARTICULATE_SLIDE_COUNT" val="9"/>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1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362</TotalTime>
  <Words>1890</Words>
  <Application>Microsoft Office PowerPoint</Application>
  <PresentationFormat>Widescreen</PresentationFormat>
  <Paragraphs>77</Paragraphs>
  <Slides>15</Slides>
  <Notes>2</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15</vt:i4>
      </vt:variant>
    </vt:vector>
  </HeadingPairs>
  <TitlesOfParts>
    <vt:vector size="22" baseType="lpstr">
      <vt:lpstr>Aptos</vt:lpstr>
      <vt:lpstr>Arial</vt:lpstr>
      <vt:lpstr>Calibri</vt:lpstr>
      <vt:lpstr>Times New Roman</vt:lpstr>
      <vt:lpstr>Wingdings</vt:lpstr>
      <vt:lpstr>1_Office Theme</vt:lpstr>
      <vt:lpstr>Custom Design</vt:lpstr>
      <vt:lpstr>PowerPoint Presentation</vt:lpstr>
      <vt:lpstr>OUTLINE:</vt:lpstr>
      <vt:lpstr>Problem Statement:</vt:lpstr>
      <vt:lpstr>Proposed Solution:</vt:lpstr>
      <vt:lpstr>System  Approach:</vt:lpstr>
      <vt:lpstr>Algorithm &amp; Deployment:</vt:lpstr>
      <vt:lpstr>Result: Key Dashboard Insights</vt:lpstr>
      <vt:lpstr>Data Architecture &amp; Model:</vt:lpstr>
      <vt:lpstr>Result: Page 1 — National MPI Overview</vt:lpstr>
      <vt:lpstr>Result: Pages 2 &amp; 3 — Push &amp; Pull Factors</vt:lpstr>
      <vt:lpstr>Result: Pages 4 &amp; 5 — Migration Flows &amp; Trends</vt:lpstr>
      <vt:lpstr>Conclusion:</vt:lpstr>
      <vt:lpstr>Future scope:</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Vikrant Nath Nagar</dc:creator>
  <cp:lastModifiedBy>Tilak Gupta</cp:lastModifiedBy>
  <cp:revision>126</cp:revision>
  <dcterms:created xsi:type="dcterms:W3CDTF">2024-05-21T11:55:00Z</dcterms:created>
  <dcterms:modified xsi:type="dcterms:W3CDTF">2026-03-14T14:47:55Z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8775663C-0243-495A-BCAB-F653BDE41EC7</vt:lpwstr>
  </property>
  <property fmtid="{D5CDD505-2E9C-101B-9397-08002B2CF9AE}" pid="3" name="ArticulatePath">
    <vt:lpwstr>https://edunetfoundationorg-my.sharepoint.com/personal/kaisar_edunetfoundation_org/Documents/Beutified ppt/MSITI/Micro Degree/Content/Module 4 Data Science/PPT/1. Introduction to Data Science</vt:lpwstr>
  </property>
  <property fmtid="{D5CDD505-2E9C-101B-9397-08002B2CF9AE}" pid="4" name="ICV">
    <vt:lpwstr>EE4E1345D65D4F85A477FE2A1A549664_12</vt:lpwstr>
  </property>
  <property fmtid="{D5CDD505-2E9C-101B-9397-08002B2CF9AE}" pid="5" name="KSOProductBuildVer">
    <vt:lpwstr>1033-12.2.0.23155</vt:lpwstr>
  </property>
</Properties>
</file>